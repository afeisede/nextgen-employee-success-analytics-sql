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15"/>
    <p:restoredTop sz="96053"/>
  </p:normalViewPr>
  <p:slideViewPr>
    <p:cSldViewPr snapToGrid="0">
      <p:cViewPr varScale="1">
        <p:scale>
          <a:sx n="114" d="100"/>
          <a:sy n="114" d="100"/>
        </p:scale>
        <p:origin x="17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EA981A-3EC1-F74F-A540-CE6C7E0BEAE5}" type="datetimeFigureOut">
              <a:rPr lang="en-US" smtClean="0"/>
              <a:t>4/5/26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91DB1-C69D-1344-8820-702BBA585DCB}" type="slidenum">
              <a:rPr lang="en-US" smtClean="0"/>
              <a:t>‹#›</a:t>
            </a:fld>
            <a:endParaRPr lang="en-US"/>
          </a:p>
        </p:txBody>
      </p:sp>
    </p:spTree>
    <p:extLst>
      <p:ext uri="{BB962C8B-B14F-4D97-AF65-F5344CB8AC3E}">
        <p14:creationId xmlns:p14="http://schemas.microsoft.com/office/powerpoint/2010/main" val="3088860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8A3128C-0925-FC4D-A291-749433937602}" type="datetime1">
              <a:rPr lang="en-US" smtClean="0"/>
              <a:t>4/5/26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8EC0D3-584B-5049-A799-C90E41E22029}"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47E69A-43B5-814F-ADC0-B22D7955DE36}"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E4369D-25BD-AD48-94C5-A84D3F43C498}" type="datetime1">
              <a:rPr lang="en-US" smtClean="0"/>
              <a:t>4/5/26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14868D-429C-6147-83AB-02CEF35804E4}" type="datetime1">
              <a:rPr lang="en-US" smtClean="0"/>
              <a:t>4/5/26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3E6337-3B14-4546-A35E-54DFD71E77B7}" type="datetime1">
              <a:rPr lang="en-US" smtClean="0"/>
              <a:t>4/5/26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11334C-653E-6B47-BAF9-C4F30D91C4C4}" type="datetime1">
              <a:rPr lang="en-US" smtClean="0"/>
              <a:t>4/5/26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367963-33BF-1D4C-A070-C92FBFD1AC9E}" type="datetime1">
              <a:rPr lang="en-US" smtClean="0"/>
              <a:t>4/5/26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AFE8FA-3D14-5F4A-94F3-7B6688505FF2}" type="datetime1">
              <a:rPr lang="en-US" smtClean="0"/>
              <a:t>4/5/26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CBC3BB-8C6F-9144-9BE3-90474D2B40CE}" type="datetime1">
              <a:rPr lang="en-US" smtClean="0"/>
              <a:t>4/5/26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54AA80-DA77-F249-A479-6B4B9978A002}"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EB335D-A320-9641-9BB0-D3F12F254D03}"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86D8D3-6E9F-AD40-A37D-AA1D174B31CA}"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C344A4-0F56-1A44-9C78-A707C99A66E3}"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77E3EF-5072-B940-96DA-F35EDECCA7DF}"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0570A-978C-E244-9DB7-DD94339EDE5D}"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397749-499E-5841-87ED-FF88ED2E558A}" type="datetime1">
              <a:rPr lang="en-US" smtClean="0"/>
              <a:t>4/5/26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0B69C7-84F6-504C-ADD3-ED64A42DE7BC}" type="datetime1">
              <a:rPr lang="en-US" smtClean="0"/>
              <a:t>4/5/26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0E92-4D5A-C8A5-71B7-6C23B8E9C582}"/>
              </a:ext>
            </a:extLst>
          </p:cNvPr>
          <p:cNvSpPr>
            <a:spLocks noGrp="1"/>
          </p:cNvSpPr>
          <p:nvPr>
            <p:ph type="ctrTitle"/>
          </p:nvPr>
        </p:nvSpPr>
        <p:spPr/>
        <p:txBody>
          <a:bodyPr/>
          <a:lstStyle/>
          <a:p>
            <a:r>
              <a:rPr lang="en-US" dirty="0">
                <a:solidFill>
                  <a:schemeClr val="accent4"/>
                </a:solidFill>
              </a:rPr>
              <a:t>NextGen Corp.</a:t>
            </a:r>
          </a:p>
        </p:txBody>
      </p:sp>
      <p:sp>
        <p:nvSpPr>
          <p:cNvPr id="3" name="Subtitle 2">
            <a:extLst>
              <a:ext uri="{FF2B5EF4-FFF2-40B4-BE49-F238E27FC236}">
                <a16:creationId xmlns:a16="http://schemas.microsoft.com/office/drawing/2014/main" id="{CE0FC828-379E-BA79-B67C-6C5341C31AA6}"/>
              </a:ext>
            </a:extLst>
          </p:cNvPr>
          <p:cNvSpPr>
            <a:spLocks noGrp="1"/>
          </p:cNvSpPr>
          <p:nvPr>
            <p:ph type="subTitle" idx="1"/>
          </p:nvPr>
        </p:nvSpPr>
        <p:spPr>
          <a:xfrm>
            <a:off x="2377440" y="3771897"/>
            <a:ext cx="7130627" cy="1320802"/>
          </a:xfrm>
        </p:spPr>
        <p:txBody>
          <a:bodyPr/>
          <a:lstStyle/>
          <a:p>
            <a:r>
              <a:rPr lang="en-US" sz="2000" b="1" dirty="0">
                <a:solidFill>
                  <a:schemeClr val="accent4">
                    <a:lumMod val="75000"/>
                  </a:schemeClr>
                </a:solidFill>
              </a:rPr>
              <a:t>Employee Retention, Performance, and Remuneration Analyses.</a:t>
            </a:r>
          </a:p>
          <a:p>
            <a:pPr algn="r"/>
            <a:r>
              <a:rPr lang="en-US" dirty="0">
                <a:solidFill>
                  <a:schemeClr val="accent4">
                    <a:lumMod val="50000"/>
                  </a:schemeClr>
                </a:solidFill>
              </a:rPr>
              <a:t>By Hamzat Isede</a:t>
            </a:r>
          </a:p>
          <a:p>
            <a:pPr algn="r"/>
            <a:r>
              <a:rPr lang="en-US" dirty="0">
                <a:solidFill>
                  <a:schemeClr val="accent4">
                    <a:lumMod val="50000"/>
                  </a:schemeClr>
                </a:solidFill>
              </a:rPr>
              <a:t>June 29, 2025.</a:t>
            </a:r>
          </a:p>
        </p:txBody>
      </p:sp>
    </p:spTree>
    <p:extLst>
      <p:ext uri="{BB962C8B-B14F-4D97-AF65-F5344CB8AC3E}">
        <p14:creationId xmlns:p14="http://schemas.microsoft.com/office/powerpoint/2010/main" val="235588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80EB2EC-D757-9926-6CF0-0A45248E0CD5}"/>
              </a:ext>
            </a:extLst>
          </p:cNvPr>
          <p:cNvPicPr>
            <a:picLocks noChangeAspect="1"/>
          </p:cNvPicPr>
          <p:nvPr/>
        </p:nvPicPr>
        <p:blipFill>
          <a:blip r:embed="rId2"/>
          <a:stretch>
            <a:fillRect/>
          </a:stretch>
        </p:blipFill>
        <p:spPr>
          <a:xfrm>
            <a:off x="1381852" y="2359599"/>
            <a:ext cx="9601196" cy="149020"/>
          </a:xfrm>
          <a:prstGeom prst="rect">
            <a:avLst/>
          </a:prstGeom>
        </p:spPr>
      </p:pic>
      <p:sp>
        <p:nvSpPr>
          <p:cNvPr id="15" name="Content Placeholder 2">
            <a:extLst>
              <a:ext uri="{FF2B5EF4-FFF2-40B4-BE49-F238E27FC236}">
                <a16:creationId xmlns:a16="http://schemas.microsoft.com/office/drawing/2014/main" id="{B10997DA-89F2-771E-3145-56325D5E02C5}"/>
              </a:ext>
            </a:extLst>
          </p:cNvPr>
          <p:cNvSpPr txBox="1">
            <a:spLocks/>
          </p:cNvSpPr>
          <p:nvPr/>
        </p:nvSpPr>
        <p:spPr>
          <a:xfrm>
            <a:off x="1295402" y="947452"/>
            <a:ext cx="9601196" cy="5300948"/>
          </a:xfrm>
          <a:prstGeom prst="rect">
            <a:avLst/>
          </a:prstGeom>
        </p:spPr>
        <p:txBody>
          <a:bodyPr vert="horz" lIns="91440" tIns="45720" rIns="91440" bIns="45720" rtlCol="0" anchor="t">
            <a:normAutofit fontScale="92500" lnSpcReduction="1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just">
              <a:lnSpc>
                <a:spcPct val="110000"/>
              </a:lnSpc>
              <a:buFont typeface="Arial"/>
              <a:buNone/>
            </a:pPr>
            <a:r>
              <a:rPr lang="en-US" sz="3900" dirty="0">
                <a:solidFill>
                  <a:schemeClr val="accent4"/>
                </a:solidFill>
              </a:rPr>
              <a:t>Business Overview</a:t>
            </a:r>
          </a:p>
          <a:p>
            <a:pPr marL="0" indent="0" algn="just">
              <a:lnSpc>
                <a:spcPct val="120000"/>
              </a:lnSpc>
              <a:buFont typeface="Arial"/>
              <a:buNone/>
            </a:pPr>
            <a:r>
              <a:rPr lang="en-US" dirty="0">
                <a:solidFill>
                  <a:schemeClr val="accent4"/>
                </a:solidFill>
              </a:rPr>
              <a:t>NextGen Corp. is a growing technology company focused on developing innovative solutions in the software and hardware spaces. A company that prides itself on attracting top talent and maintaining high employee satisfaction to drive growth has sadly realized that it is nothing but. This is due to an increasing concern regarding employee turnover, performance variability, and salary disparities within its departments. </a:t>
            </a:r>
          </a:p>
          <a:p>
            <a:pPr marL="0" indent="0" algn="just">
              <a:buFont typeface="Arial"/>
              <a:buNone/>
            </a:pPr>
            <a:r>
              <a:rPr lang="en-US" dirty="0">
                <a:solidFill>
                  <a:schemeClr val="accent4">
                    <a:lumMod val="50000"/>
                  </a:schemeClr>
                </a:solidFill>
              </a:rPr>
              <a:t>The goal of this business evaluation is three-prong:</a:t>
            </a:r>
          </a:p>
          <a:p>
            <a:r>
              <a:rPr lang="en-US" dirty="0">
                <a:solidFill>
                  <a:schemeClr val="accent4">
                    <a:lumMod val="75000"/>
                  </a:schemeClr>
                </a:solidFill>
              </a:rPr>
              <a:t>Identify trends and patterns in employee retention and turnover.</a:t>
            </a:r>
          </a:p>
          <a:p>
            <a:r>
              <a:rPr lang="en-US" dirty="0">
                <a:solidFill>
                  <a:schemeClr val="accent4">
                    <a:lumMod val="75000"/>
                  </a:schemeClr>
                </a:solidFill>
              </a:rPr>
              <a:t>Track and evaluate performance across different departments.</a:t>
            </a:r>
          </a:p>
          <a:p>
            <a:r>
              <a:rPr lang="en-US" dirty="0">
                <a:solidFill>
                  <a:schemeClr val="accent4">
                    <a:lumMod val="75000"/>
                  </a:schemeClr>
                </a:solidFill>
              </a:rPr>
              <a:t>Assess the relationship between salary and performance to ensure fairness and employee satisfaction. </a:t>
            </a:r>
          </a:p>
          <a:p>
            <a:endParaRPr lang="en-US" dirty="0"/>
          </a:p>
        </p:txBody>
      </p:sp>
      <p:sp>
        <p:nvSpPr>
          <p:cNvPr id="2" name="Slide Number Placeholder 1">
            <a:extLst>
              <a:ext uri="{FF2B5EF4-FFF2-40B4-BE49-F238E27FC236}">
                <a16:creationId xmlns:a16="http://schemas.microsoft.com/office/drawing/2014/main" id="{7519EA12-11DA-6930-D172-8F4CCC8372E2}"/>
              </a:ext>
            </a:extLst>
          </p:cNvPr>
          <p:cNvSpPr>
            <a:spLocks noGrp="1"/>
          </p:cNvSpPr>
          <p:nvPr>
            <p:ph type="sldNum" sz="quarter" idx="12"/>
          </p:nvPr>
        </p:nvSpPr>
        <p:spPr/>
        <p:txBody>
          <a:bodyPr/>
          <a:lstStyle/>
          <a:p>
            <a:fld id="{E97799C9-84D9-46D2-A11E-BCF8A720529D}" type="slidenum">
              <a:rPr lang="en-US" smtClean="0"/>
              <a:t>2</a:t>
            </a:fld>
            <a:endParaRPr lang="en-US" dirty="0"/>
          </a:p>
        </p:txBody>
      </p:sp>
    </p:spTree>
    <p:extLst>
      <p:ext uri="{BB962C8B-B14F-4D97-AF65-F5344CB8AC3E}">
        <p14:creationId xmlns:p14="http://schemas.microsoft.com/office/powerpoint/2010/main" val="2226933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45635-EA8C-CA0E-1FEA-3CE38E43A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F82C6-ACF0-0958-8A26-3CFAB87AA6E3}"/>
              </a:ext>
            </a:extLst>
          </p:cNvPr>
          <p:cNvSpPr>
            <a:spLocks noGrp="1"/>
          </p:cNvSpPr>
          <p:nvPr>
            <p:ph type="title"/>
          </p:nvPr>
        </p:nvSpPr>
        <p:spPr>
          <a:xfrm>
            <a:off x="804231" y="683046"/>
            <a:ext cx="10092366" cy="1602953"/>
          </a:xfrm>
        </p:spPr>
        <p:txBody>
          <a:bodyPr>
            <a:normAutofit/>
          </a:bodyPr>
          <a:lstStyle/>
          <a:p>
            <a:pPr algn="just"/>
            <a:r>
              <a:rPr lang="en-US" sz="3000" b="1" dirty="0">
                <a:solidFill>
                  <a:schemeClr val="accent4">
                    <a:lumMod val="75000"/>
                  </a:schemeClr>
                </a:solidFill>
              </a:rPr>
              <a:t>Understanding the employee turnover trends and identifying the root causes of high turnover rates.</a:t>
            </a:r>
            <a:endParaRPr lang="en-US" sz="3000" dirty="0">
              <a:solidFill>
                <a:schemeClr val="accent4">
                  <a:lumMod val="75000"/>
                </a:schemeClr>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23B73B9F-C3F9-0266-F5F8-BA2637B1678B}"/>
              </a:ext>
            </a:extLst>
          </p:cNvPr>
          <p:cNvSpPr>
            <a:spLocks noGrp="1"/>
          </p:cNvSpPr>
          <p:nvPr>
            <p:ph idx="1"/>
          </p:nvPr>
        </p:nvSpPr>
        <p:spPr/>
        <p:txBody>
          <a:bodyPr>
            <a:normAutofit lnSpcReduction="10000"/>
          </a:bodyPr>
          <a:lstStyle/>
          <a:p>
            <a:pPr marL="0" indent="0">
              <a:buNone/>
            </a:pPr>
            <a:r>
              <a:rPr lang="en-US" dirty="0">
                <a:solidFill>
                  <a:schemeClr val="accent4"/>
                </a:solidFill>
              </a:rPr>
              <a:t>In the following slides we aim to analyze the key trends informing the high  employee turnover and determine its root causes. Questions we need to answer are:</a:t>
            </a:r>
          </a:p>
          <a:p>
            <a:r>
              <a:rPr lang="en-US" dirty="0">
                <a:solidFill>
                  <a:schemeClr val="accent4">
                    <a:lumMod val="50000"/>
                  </a:schemeClr>
                </a:solidFill>
              </a:rPr>
              <a:t>Who are the top 5 highest serving employees?</a:t>
            </a:r>
          </a:p>
          <a:p>
            <a:r>
              <a:rPr lang="en-US" dirty="0">
                <a:solidFill>
                  <a:schemeClr val="accent4">
                    <a:lumMod val="50000"/>
                  </a:schemeClr>
                </a:solidFill>
              </a:rPr>
              <a:t>What is the turnover rate for each department? </a:t>
            </a:r>
          </a:p>
          <a:p>
            <a:r>
              <a:rPr lang="en-US" dirty="0">
                <a:solidFill>
                  <a:schemeClr val="accent4">
                    <a:lumMod val="50000"/>
                  </a:schemeClr>
                </a:solidFill>
              </a:rPr>
              <a:t>Which employees are at risk of leaving based on their performance? </a:t>
            </a:r>
          </a:p>
          <a:p>
            <a:r>
              <a:rPr lang="en-US" dirty="0">
                <a:solidFill>
                  <a:schemeClr val="accent4">
                    <a:lumMod val="50000"/>
                  </a:schemeClr>
                </a:solidFill>
              </a:rPr>
              <a:t>What are the main reasons employees are leaving the company?</a:t>
            </a:r>
          </a:p>
          <a:p>
            <a:endParaRPr lang="en-US" dirty="0"/>
          </a:p>
          <a:p>
            <a:endParaRPr lang="en-US" dirty="0"/>
          </a:p>
        </p:txBody>
      </p:sp>
      <p:sp>
        <p:nvSpPr>
          <p:cNvPr id="4" name="Slide Number Placeholder 3">
            <a:extLst>
              <a:ext uri="{FF2B5EF4-FFF2-40B4-BE49-F238E27FC236}">
                <a16:creationId xmlns:a16="http://schemas.microsoft.com/office/drawing/2014/main" id="{A5E0C1BB-F319-5E89-FCD9-3DD68019D6D6}"/>
              </a:ext>
            </a:extLst>
          </p:cNvPr>
          <p:cNvSpPr>
            <a:spLocks noGrp="1"/>
          </p:cNvSpPr>
          <p:nvPr>
            <p:ph type="sldNum" sz="quarter" idx="12"/>
          </p:nvPr>
        </p:nvSpPr>
        <p:spPr/>
        <p:txBody>
          <a:bodyPr/>
          <a:lstStyle/>
          <a:p>
            <a:fld id="{E97799C9-84D9-46D2-A11E-BCF8A720529D}" type="slidenum">
              <a:rPr lang="en-US" smtClean="0"/>
              <a:t>3</a:t>
            </a:fld>
            <a:endParaRPr lang="en-US" dirty="0"/>
          </a:p>
        </p:txBody>
      </p:sp>
    </p:spTree>
    <p:extLst>
      <p:ext uri="{BB962C8B-B14F-4D97-AF65-F5344CB8AC3E}">
        <p14:creationId xmlns:p14="http://schemas.microsoft.com/office/powerpoint/2010/main" val="3481322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A5A4-13D1-D228-6B99-2AE1E55D1C10}"/>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1. Who are the top 5 highest serving employees?</a:t>
            </a:r>
            <a:br>
              <a:rPr lang="en-US" sz="2200" b="1" dirty="0">
                <a:solidFill>
                  <a:schemeClr val="accent4">
                    <a:lumMod val="50000"/>
                  </a:schemeClr>
                </a:solidFill>
              </a:rPr>
            </a:br>
            <a:br>
              <a:rPr lang="en-US" sz="2200" b="1" dirty="0">
                <a:solidFill>
                  <a:schemeClr val="accent4">
                    <a:lumMod val="50000"/>
                  </a:schemeClr>
                </a:solidFill>
              </a:rPr>
            </a:br>
            <a:r>
              <a:rPr lang="en-US" sz="2200" b="1" dirty="0">
                <a:solidFill>
                  <a:schemeClr val="accent4">
                    <a:lumMod val="50000"/>
                  </a:schemeClr>
                </a:solidFill>
              </a:rPr>
              <a:t>2. What is the turnover rate for each department?</a:t>
            </a:r>
            <a:br>
              <a:rPr lang="en-US" sz="2200" b="1" dirty="0">
                <a:solidFill>
                  <a:schemeClr val="accent4">
                    <a:lumMod val="50000"/>
                  </a:schemeClr>
                </a:solidFill>
              </a:rPr>
            </a:br>
            <a:endParaRPr lang="en-US" sz="2200" b="1" dirty="0">
              <a:solidFill>
                <a:schemeClr val="accent4">
                  <a:lumMod val="50000"/>
                </a:schemeClr>
              </a:solidFill>
            </a:endParaRPr>
          </a:p>
        </p:txBody>
      </p:sp>
      <p:pic>
        <p:nvPicPr>
          <p:cNvPr id="4" name="Content Placeholder 3">
            <a:extLst>
              <a:ext uri="{FF2B5EF4-FFF2-40B4-BE49-F238E27FC236}">
                <a16:creationId xmlns:a16="http://schemas.microsoft.com/office/drawing/2014/main" id="{0EC6E534-5381-651D-A47F-39F6F38AD54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082"/>
          <a:stretch>
            <a:fillRect/>
          </a:stretch>
        </p:blipFill>
        <p:spPr>
          <a:xfrm>
            <a:off x="1200838" y="2456759"/>
            <a:ext cx="4594033" cy="2769110"/>
          </a:xfrm>
          <a:prstGeom prst="rect">
            <a:avLst/>
          </a:prstGeom>
        </p:spPr>
      </p:pic>
      <p:pic>
        <p:nvPicPr>
          <p:cNvPr id="5" name="Picture 4">
            <a:extLst>
              <a:ext uri="{FF2B5EF4-FFF2-40B4-BE49-F238E27FC236}">
                <a16:creationId xmlns:a16="http://schemas.microsoft.com/office/drawing/2014/main" id="{4051B0C3-86BC-D50A-9065-A73CD4182451}"/>
              </a:ext>
            </a:extLst>
          </p:cNvPr>
          <p:cNvPicPr>
            <a:picLocks noChangeAspect="1"/>
          </p:cNvPicPr>
          <p:nvPr/>
        </p:nvPicPr>
        <p:blipFill>
          <a:blip r:embed="rId3">
            <a:extLst>
              <a:ext uri="{28A0092B-C50C-407E-A947-70E740481C1C}">
                <a14:useLocalDpi xmlns:a14="http://schemas.microsoft.com/office/drawing/2010/main" val="0"/>
              </a:ext>
            </a:extLst>
          </a:blip>
          <a:srcRect t="2786"/>
          <a:stretch>
            <a:fillRect/>
          </a:stretch>
        </p:blipFill>
        <p:spPr>
          <a:xfrm>
            <a:off x="6073964" y="2445743"/>
            <a:ext cx="4881693" cy="2691990"/>
          </a:xfrm>
          <a:prstGeom prst="rect">
            <a:avLst/>
          </a:prstGeom>
        </p:spPr>
      </p:pic>
      <p:pic>
        <p:nvPicPr>
          <p:cNvPr id="9" name="Picture 8">
            <a:extLst>
              <a:ext uri="{FF2B5EF4-FFF2-40B4-BE49-F238E27FC236}">
                <a16:creationId xmlns:a16="http://schemas.microsoft.com/office/drawing/2014/main" id="{13E29732-4FFB-3208-9E6A-30AA75F6B360}"/>
              </a:ext>
            </a:extLst>
          </p:cNvPr>
          <p:cNvPicPr>
            <a:picLocks noChangeAspect="1"/>
          </p:cNvPicPr>
          <p:nvPr/>
        </p:nvPicPr>
        <p:blipFill>
          <a:blip r:embed="rId4"/>
          <a:stretch>
            <a:fillRect/>
          </a:stretch>
        </p:blipFill>
        <p:spPr>
          <a:xfrm>
            <a:off x="5765490" y="2368627"/>
            <a:ext cx="309696" cy="444500"/>
          </a:xfrm>
          <a:prstGeom prst="rect">
            <a:avLst/>
          </a:prstGeom>
        </p:spPr>
      </p:pic>
      <p:sp>
        <p:nvSpPr>
          <p:cNvPr id="11" name="TextBox 10">
            <a:extLst>
              <a:ext uri="{FF2B5EF4-FFF2-40B4-BE49-F238E27FC236}">
                <a16:creationId xmlns:a16="http://schemas.microsoft.com/office/drawing/2014/main" id="{1F68C14E-F36D-42CA-9E6F-2D3B4D78C811}"/>
              </a:ext>
            </a:extLst>
          </p:cNvPr>
          <p:cNvSpPr txBox="1"/>
          <p:nvPr/>
        </p:nvSpPr>
        <p:spPr>
          <a:xfrm>
            <a:off x="1200838" y="5137733"/>
            <a:ext cx="370166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1.1: Serving Employees </a:t>
            </a:r>
          </a:p>
        </p:txBody>
      </p:sp>
      <p:sp>
        <p:nvSpPr>
          <p:cNvPr id="12" name="TextBox 11">
            <a:extLst>
              <a:ext uri="{FF2B5EF4-FFF2-40B4-BE49-F238E27FC236}">
                <a16:creationId xmlns:a16="http://schemas.microsoft.com/office/drawing/2014/main" id="{C432ADB9-B7E1-3874-FF51-50E300A8E45F}"/>
              </a:ext>
            </a:extLst>
          </p:cNvPr>
          <p:cNvSpPr txBox="1"/>
          <p:nvPr/>
        </p:nvSpPr>
        <p:spPr>
          <a:xfrm>
            <a:off x="6095998" y="5137733"/>
            <a:ext cx="370166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1.2: Turnover Rate By Department</a:t>
            </a:r>
          </a:p>
        </p:txBody>
      </p:sp>
      <p:sp>
        <p:nvSpPr>
          <p:cNvPr id="3" name="Slide Number Placeholder 2">
            <a:extLst>
              <a:ext uri="{FF2B5EF4-FFF2-40B4-BE49-F238E27FC236}">
                <a16:creationId xmlns:a16="http://schemas.microsoft.com/office/drawing/2014/main" id="{885971E8-570A-1171-7AA8-AA53E50886E4}"/>
              </a:ext>
            </a:extLst>
          </p:cNvPr>
          <p:cNvSpPr>
            <a:spLocks noGrp="1"/>
          </p:cNvSpPr>
          <p:nvPr>
            <p:ph type="sldNum" sz="quarter" idx="12"/>
          </p:nvPr>
        </p:nvSpPr>
        <p:spPr/>
        <p:txBody>
          <a:bodyPr/>
          <a:lstStyle/>
          <a:p>
            <a:fld id="{E97799C9-84D9-46D2-A11E-BCF8A720529D}" type="slidenum">
              <a:rPr lang="en-US" smtClean="0"/>
              <a:t>4</a:t>
            </a:fld>
            <a:endParaRPr lang="en-US" dirty="0"/>
          </a:p>
        </p:txBody>
      </p:sp>
    </p:spTree>
    <p:extLst>
      <p:ext uri="{BB962C8B-B14F-4D97-AF65-F5344CB8AC3E}">
        <p14:creationId xmlns:p14="http://schemas.microsoft.com/office/powerpoint/2010/main" val="2814971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09916-FACC-E3FC-971D-791D0D7B3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12D93-370F-08C7-F178-9261AF092DD4}"/>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3. Which employees are at risk of leaving based on their performance?</a:t>
            </a:r>
            <a:br>
              <a:rPr lang="en-US" sz="2200" b="1" dirty="0">
                <a:solidFill>
                  <a:schemeClr val="accent4">
                    <a:lumMod val="50000"/>
                  </a:schemeClr>
                </a:solidFill>
              </a:rPr>
            </a:br>
            <a:br>
              <a:rPr lang="en-US" sz="2000" dirty="0">
                <a:solidFill>
                  <a:schemeClr val="accent4">
                    <a:lumMod val="50000"/>
                  </a:schemeClr>
                </a:solidFill>
              </a:rPr>
            </a:br>
            <a:r>
              <a:rPr lang="en-US" sz="2200" b="1" dirty="0">
                <a:solidFill>
                  <a:schemeClr val="accent4">
                    <a:lumMod val="50000"/>
                  </a:schemeClr>
                </a:solidFill>
              </a:rPr>
              <a:t>4. What are the main reasons why employees are leaving the company</a:t>
            </a:r>
            <a:r>
              <a:rPr lang="en-US" sz="2200" b="1" dirty="0"/>
              <a:t>?</a:t>
            </a:r>
            <a:br>
              <a:rPr lang="en-US" sz="2200" dirty="0"/>
            </a:br>
            <a:endParaRPr lang="en-US" sz="2200" b="1" dirty="0">
              <a:solidFill>
                <a:schemeClr val="accent4">
                  <a:lumMod val="50000"/>
                </a:schemeClr>
              </a:solidFill>
            </a:endParaRPr>
          </a:p>
        </p:txBody>
      </p:sp>
      <p:pic>
        <p:nvPicPr>
          <p:cNvPr id="10" name="Picture 9">
            <a:extLst>
              <a:ext uri="{FF2B5EF4-FFF2-40B4-BE49-F238E27FC236}">
                <a16:creationId xmlns:a16="http://schemas.microsoft.com/office/drawing/2014/main" id="{06977C9F-2C99-34E9-6B2E-8CAFA8272819}"/>
              </a:ext>
            </a:extLst>
          </p:cNvPr>
          <p:cNvPicPr>
            <a:picLocks noChangeAspect="1"/>
          </p:cNvPicPr>
          <p:nvPr/>
        </p:nvPicPr>
        <p:blipFill>
          <a:blip r:embed="rId2"/>
          <a:stretch>
            <a:fillRect/>
          </a:stretch>
        </p:blipFill>
        <p:spPr>
          <a:xfrm>
            <a:off x="5685315" y="2368627"/>
            <a:ext cx="406400" cy="444500"/>
          </a:xfrm>
          <a:prstGeom prst="rect">
            <a:avLst/>
          </a:prstGeom>
        </p:spPr>
      </p:pic>
      <p:pic>
        <p:nvPicPr>
          <p:cNvPr id="11" name="Picture 10">
            <a:extLst>
              <a:ext uri="{FF2B5EF4-FFF2-40B4-BE49-F238E27FC236}">
                <a16:creationId xmlns:a16="http://schemas.microsoft.com/office/drawing/2014/main" id="{1F410881-A79C-ED76-5A9A-51C736F3E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1" y="2445741"/>
            <a:ext cx="4432300" cy="3547435"/>
          </a:xfrm>
          <a:prstGeom prst="rect">
            <a:avLst/>
          </a:prstGeom>
        </p:spPr>
      </p:pic>
      <p:pic>
        <p:nvPicPr>
          <p:cNvPr id="12" name="Picture 11">
            <a:extLst>
              <a:ext uri="{FF2B5EF4-FFF2-40B4-BE49-F238E27FC236}">
                <a16:creationId xmlns:a16="http://schemas.microsoft.com/office/drawing/2014/main" id="{AE141503-E90D-A266-558B-BD5FE0F15B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0287" y="2445740"/>
            <a:ext cx="4740674" cy="2941507"/>
          </a:xfrm>
          <a:prstGeom prst="rect">
            <a:avLst/>
          </a:prstGeom>
        </p:spPr>
      </p:pic>
      <p:sp>
        <p:nvSpPr>
          <p:cNvPr id="13" name="TextBox 12">
            <a:extLst>
              <a:ext uri="{FF2B5EF4-FFF2-40B4-BE49-F238E27FC236}">
                <a16:creationId xmlns:a16="http://schemas.microsoft.com/office/drawing/2014/main" id="{1E7E4552-5CFD-D78B-770D-E25D25A57963}"/>
              </a:ext>
            </a:extLst>
          </p:cNvPr>
          <p:cNvSpPr txBox="1"/>
          <p:nvPr/>
        </p:nvSpPr>
        <p:spPr>
          <a:xfrm>
            <a:off x="1295401" y="5993176"/>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1.3: Lowest Average Performance By Employees </a:t>
            </a:r>
          </a:p>
        </p:txBody>
      </p:sp>
      <p:sp>
        <p:nvSpPr>
          <p:cNvPr id="14" name="TextBox 13">
            <a:extLst>
              <a:ext uri="{FF2B5EF4-FFF2-40B4-BE49-F238E27FC236}">
                <a16:creationId xmlns:a16="http://schemas.microsoft.com/office/drawing/2014/main" id="{58316595-66D4-2128-31A1-F567313F7A2D}"/>
              </a:ext>
            </a:extLst>
          </p:cNvPr>
          <p:cNvSpPr txBox="1"/>
          <p:nvPr/>
        </p:nvSpPr>
        <p:spPr>
          <a:xfrm>
            <a:off x="6091714" y="5387247"/>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1.4: Employee Reasons For Leaving The Company</a:t>
            </a:r>
          </a:p>
        </p:txBody>
      </p:sp>
      <p:sp>
        <p:nvSpPr>
          <p:cNvPr id="3" name="Slide Number Placeholder 2">
            <a:extLst>
              <a:ext uri="{FF2B5EF4-FFF2-40B4-BE49-F238E27FC236}">
                <a16:creationId xmlns:a16="http://schemas.microsoft.com/office/drawing/2014/main" id="{F6834A24-59B6-6281-618B-5145B9D84B86}"/>
              </a:ext>
            </a:extLst>
          </p:cNvPr>
          <p:cNvSpPr>
            <a:spLocks noGrp="1"/>
          </p:cNvSpPr>
          <p:nvPr>
            <p:ph type="sldNum" sz="quarter" idx="12"/>
          </p:nvPr>
        </p:nvSpPr>
        <p:spPr/>
        <p:txBody>
          <a:bodyPr/>
          <a:lstStyle/>
          <a:p>
            <a:fld id="{E97799C9-84D9-46D2-A11E-BCF8A720529D}" type="slidenum">
              <a:rPr lang="en-US" smtClean="0"/>
              <a:t>5</a:t>
            </a:fld>
            <a:endParaRPr lang="en-US" dirty="0"/>
          </a:p>
        </p:txBody>
      </p:sp>
    </p:spTree>
    <p:extLst>
      <p:ext uri="{BB962C8B-B14F-4D97-AF65-F5344CB8AC3E}">
        <p14:creationId xmlns:p14="http://schemas.microsoft.com/office/powerpoint/2010/main" val="157082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FB3E2-BD8F-62FC-4B0E-CE6EF7699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CB7E6-BDAB-4196-F494-1A8CD4B07E35}"/>
              </a:ext>
            </a:extLst>
          </p:cNvPr>
          <p:cNvSpPr>
            <a:spLocks noGrp="1"/>
          </p:cNvSpPr>
          <p:nvPr>
            <p:ph type="title"/>
          </p:nvPr>
        </p:nvSpPr>
        <p:spPr>
          <a:xfrm>
            <a:off x="804231" y="683046"/>
            <a:ext cx="10092366" cy="1602953"/>
          </a:xfrm>
        </p:spPr>
        <p:txBody>
          <a:bodyPr>
            <a:normAutofit/>
          </a:bodyPr>
          <a:lstStyle/>
          <a:p>
            <a:pPr algn="just"/>
            <a:r>
              <a:rPr lang="en-US" sz="2700" b="1" dirty="0">
                <a:solidFill>
                  <a:schemeClr val="accent4">
                    <a:lumMod val="75000"/>
                  </a:schemeClr>
                </a:solidFill>
              </a:rPr>
              <a:t>Evaluating employee performance across different departments and identifying areas where performance can be improved. </a:t>
            </a:r>
            <a:endParaRPr lang="en-US" sz="2700" b="1" dirty="0">
              <a:solidFill>
                <a:schemeClr val="accent4">
                  <a:lumMod val="75000"/>
                </a:schemeClr>
              </a:solidFill>
              <a:latin typeface="Garamond" panose="02020404030301010803" pitchFamily="18" charset="0"/>
            </a:endParaRPr>
          </a:p>
        </p:txBody>
      </p:sp>
      <p:sp>
        <p:nvSpPr>
          <p:cNvPr id="3" name="Content Placeholder 2">
            <a:extLst>
              <a:ext uri="{FF2B5EF4-FFF2-40B4-BE49-F238E27FC236}">
                <a16:creationId xmlns:a16="http://schemas.microsoft.com/office/drawing/2014/main" id="{F81C84F6-2233-5894-E310-75B06F0667E8}"/>
              </a:ext>
            </a:extLst>
          </p:cNvPr>
          <p:cNvSpPr>
            <a:spLocks noGrp="1"/>
          </p:cNvSpPr>
          <p:nvPr>
            <p:ph idx="1"/>
          </p:nvPr>
        </p:nvSpPr>
        <p:spPr/>
        <p:txBody>
          <a:bodyPr>
            <a:normAutofit lnSpcReduction="10000"/>
          </a:bodyPr>
          <a:lstStyle/>
          <a:p>
            <a:pPr marL="0" indent="0">
              <a:buNone/>
            </a:pPr>
            <a:r>
              <a:rPr lang="en-US" dirty="0">
                <a:solidFill>
                  <a:schemeClr val="accent4"/>
                </a:solidFill>
              </a:rPr>
              <a:t>In the following slides we take aim at employee performance and their impact on the organization across the departments. Questions we need to answer here are:</a:t>
            </a:r>
          </a:p>
          <a:p>
            <a:r>
              <a:rPr lang="en-US" dirty="0">
                <a:solidFill>
                  <a:schemeClr val="accent4">
                    <a:lumMod val="50000"/>
                  </a:schemeClr>
                </a:solidFill>
              </a:rPr>
              <a:t>How many employees has left the company?</a:t>
            </a:r>
          </a:p>
          <a:p>
            <a:r>
              <a:rPr lang="en-US" dirty="0">
                <a:solidFill>
                  <a:schemeClr val="accent4">
                    <a:lumMod val="50000"/>
                  </a:schemeClr>
                </a:solidFill>
              </a:rPr>
              <a:t>How many employees have a performance score of 5.0? And below 3.5? </a:t>
            </a:r>
          </a:p>
          <a:p>
            <a:r>
              <a:rPr lang="en-US" dirty="0">
                <a:solidFill>
                  <a:schemeClr val="accent4">
                    <a:lumMod val="50000"/>
                  </a:schemeClr>
                </a:solidFill>
              </a:rPr>
              <a:t>How many employees have a performance score of 5.0? And below 3.5? </a:t>
            </a:r>
          </a:p>
          <a:p>
            <a:r>
              <a:rPr lang="en-US" dirty="0">
                <a:solidFill>
                  <a:schemeClr val="accent4">
                    <a:lumMod val="50000"/>
                  </a:schemeClr>
                </a:solidFill>
              </a:rPr>
              <a:t>What is the average performance score by department?</a:t>
            </a:r>
          </a:p>
          <a:p>
            <a:endParaRPr lang="en-US" dirty="0"/>
          </a:p>
          <a:p>
            <a:endParaRPr lang="en-US" dirty="0"/>
          </a:p>
        </p:txBody>
      </p:sp>
      <p:sp>
        <p:nvSpPr>
          <p:cNvPr id="4" name="Slide Number Placeholder 3">
            <a:extLst>
              <a:ext uri="{FF2B5EF4-FFF2-40B4-BE49-F238E27FC236}">
                <a16:creationId xmlns:a16="http://schemas.microsoft.com/office/drawing/2014/main" id="{B0C60790-6014-351F-B100-B12642E84C4D}"/>
              </a:ext>
            </a:extLst>
          </p:cNvPr>
          <p:cNvSpPr>
            <a:spLocks noGrp="1"/>
          </p:cNvSpPr>
          <p:nvPr>
            <p:ph type="sldNum" sz="quarter" idx="12"/>
          </p:nvPr>
        </p:nvSpPr>
        <p:spPr/>
        <p:txBody>
          <a:bodyPr/>
          <a:lstStyle/>
          <a:p>
            <a:fld id="{E97799C9-84D9-46D2-A11E-BCF8A720529D}" type="slidenum">
              <a:rPr lang="en-US" smtClean="0"/>
              <a:t>6</a:t>
            </a:fld>
            <a:endParaRPr lang="en-US" dirty="0"/>
          </a:p>
        </p:txBody>
      </p:sp>
    </p:spTree>
    <p:extLst>
      <p:ext uri="{BB962C8B-B14F-4D97-AF65-F5344CB8AC3E}">
        <p14:creationId xmlns:p14="http://schemas.microsoft.com/office/powerpoint/2010/main" val="1051393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3BAD-0651-EE36-A825-A7D96E001E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765F7-8B72-A157-9E2F-BECA404AF841}"/>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5. How many employees has left the company?</a:t>
            </a:r>
            <a:br>
              <a:rPr lang="en-US" sz="2200" dirty="0">
                <a:solidFill>
                  <a:schemeClr val="accent4">
                    <a:lumMod val="50000"/>
                  </a:schemeClr>
                </a:solidFill>
              </a:rPr>
            </a:br>
            <a:br>
              <a:rPr lang="en-US" sz="2200" dirty="0">
                <a:solidFill>
                  <a:schemeClr val="accent4">
                    <a:lumMod val="50000"/>
                  </a:schemeClr>
                </a:solidFill>
              </a:rPr>
            </a:br>
            <a:br>
              <a:rPr lang="en-US" sz="2000" dirty="0">
                <a:solidFill>
                  <a:schemeClr val="accent4">
                    <a:lumMod val="50000"/>
                  </a:schemeClr>
                </a:solidFill>
              </a:rPr>
            </a:br>
            <a:r>
              <a:rPr lang="en-US" sz="2200" b="1" dirty="0">
                <a:solidFill>
                  <a:schemeClr val="accent4">
                    <a:lumMod val="50000"/>
                  </a:schemeClr>
                </a:solidFill>
              </a:rPr>
              <a:t>6. How many employees have a performance score of 5.0? And below 3.5? </a:t>
            </a:r>
            <a:br>
              <a:rPr lang="en-US" sz="2200" dirty="0">
                <a:solidFill>
                  <a:schemeClr val="accent4">
                    <a:lumMod val="50000"/>
                  </a:schemeClr>
                </a:solidFill>
              </a:rPr>
            </a:br>
            <a:endParaRPr lang="en-US" sz="2200" b="1" dirty="0">
              <a:solidFill>
                <a:schemeClr val="accent4">
                  <a:lumMod val="50000"/>
                </a:schemeClr>
              </a:solidFill>
            </a:endParaRPr>
          </a:p>
        </p:txBody>
      </p:sp>
      <p:grpSp>
        <p:nvGrpSpPr>
          <p:cNvPr id="6" name="Group 5">
            <a:extLst>
              <a:ext uri="{FF2B5EF4-FFF2-40B4-BE49-F238E27FC236}">
                <a16:creationId xmlns:a16="http://schemas.microsoft.com/office/drawing/2014/main" id="{7554D5C0-A0CA-558B-D1D0-8B6B3F7AC4F9}"/>
              </a:ext>
            </a:extLst>
          </p:cNvPr>
          <p:cNvGrpSpPr/>
          <p:nvPr/>
        </p:nvGrpSpPr>
        <p:grpSpPr>
          <a:xfrm>
            <a:off x="1317435" y="2437481"/>
            <a:ext cx="4400319" cy="2773954"/>
            <a:chOff x="1295401" y="2437481"/>
            <a:chExt cx="4400319" cy="2773954"/>
          </a:xfrm>
        </p:grpSpPr>
        <p:pic>
          <p:nvPicPr>
            <p:cNvPr id="4" name="Picture 3">
              <a:extLst>
                <a:ext uri="{FF2B5EF4-FFF2-40B4-BE49-F238E27FC236}">
                  <a16:creationId xmlns:a16="http://schemas.microsoft.com/office/drawing/2014/main" id="{7384B50C-F5AA-7F8F-2BEE-A3C907ABC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1" y="2437481"/>
              <a:ext cx="4400319" cy="1828800"/>
            </a:xfrm>
            <a:prstGeom prst="rect">
              <a:avLst/>
            </a:prstGeom>
          </p:spPr>
        </p:pic>
        <p:pic>
          <p:nvPicPr>
            <p:cNvPr id="5" name="Picture 4">
              <a:extLst>
                <a:ext uri="{FF2B5EF4-FFF2-40B4-BE49-F238E27FC236}">
                  <a16:creationId xmlns:a16="http://schemas.microsoft.com/office/drawing/2014/main" id="{C3B9CB62-A816-8348-D1A1-92C6B59F52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1" y="4335135"/>
              <a:ext cx="4400318" cy="876300"/>
            </a:xfrm>
            <a:prstGeom prst="rect">
              <a:avLst/>
            </a:prstGeom>
          </p:spPr>
        </p:pic>
      </p:grpSp>
      <p:grpSp>
        <p:nvGrpSpPr>
          <p:cNvPr id="14" name="Group 13">
            <a:extLst>
              <a:ext uri="{FF2B5EF4-FFF2-40B4-BE49-F238E27FC236}">
                <a16:creationId xmlns:a16="http://schemas.microsoft.com/office/drawing/2014/main" id="{C0BA2AD8-CFF8-60EF-CACA-25F38433587A}"/>
              </a:ext>
            </a:extLst>
          </p:cNvPr>
          <p:cNvGrpSpPr/>
          <p:nvPr/>
        </p:nvGrpSpPr>
        <p:grpSpPr>
          <a:xfrm>
            <a:off x="6060497" y="2437482"/>
            <a:ext cx="4814067" cy="3454966"/>
            <a:chOff x="6060498" y="2437481"/>
            <a:chExt cx="4505588" cy="3731965"/>
          </a:xfrm>
        </p:grpSpPr>
        <p:pic>
          <p:nvPicPr>
            <p:cNvPr id="7" name="Picture 6">
              <a:extLst>
                <a:ext uri="{FF2B5EF4-FFF2-40B4-BE49-F238E27FC236}">
                  <a16:creationId xmlns:a16="http://schemas.microsoft.com/office/drawing/2014/main" id="{BDF58D20-0474-0B4C-344D-9228A45B7C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0498" y="2437481"/>
              <a:ext cx="4505588" cy="778647"/>
            </a:xfrm>
            <a:prstGeom prst="rect">
              <a:avLst/>
            </a:prstGeom>
          </p:spPr>
        </p:pic>
        <p:grpSp>
          <p:nvGrpSpPr>
            <p:cNvPr id="11" name="Group 10">
              <a:extLst>
                <a:ext uri="{FF2B5EF4-FFF2-40B4-BE49-F238E27FC236}">
                  <a16:creationId xmlns:a16="http://schemas.microsoft.com/office/drawing/2014/main" id="{96DFAE63-F4F5-58AD-34B8-9834FC749541}"/>
                </a:ext>
              </a:extLst>
            </p:cNvPr>
            <p:cNvGrpSpPr/>
            <p:nvPr/>
          </p:nvGrpSpPr>
          <p:grpSpPr>
            <a:xfrm>
              <a:off x="6132721" y="3518820"/>
              <a:ext cx="4400314" cy="2650626"/>
              <a:chOff x="6496282" y="3518820"/>
              <a:chExt cx="4400314" cy="2650626"/>
            </a:xfrm>
          </p:grpSpPr>
          <p:pic>
            <p:nvPicPr>
              <p:cNvPr id="9" name="Picture 8">
                <a:extLst>
                  <a:ext uri="{FF2B5EF4-FFF2-40B4-BE49-F238E27FC236}">
                    <a16:creationId xmlns:a16="http://schemas.microsoft.com/office/drawing/2014/main" id="{FB1D5C40-FA9B-15ED-615E-E990B6386C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6282" y="3518820"/>
                <a:ext cx="4400314" cy="1949423"/>
              </a:xfrm>
              <a:prstGeom prst="rect">
                <a:avLst/>
              </a:prstGeom>
            </p:spPr>
          </p:pic>
          <p:pic>
            <p:nvPicPr>
              <p:cNvPr id="10" name="Picture 9">
                <a:extLst>
                  <a:ext uri="{FF2B5EF4-FFF2-40B4-BE49-F238E27FC236}">
                    <a16:creationId xmlns:a16="http://schemas.microsoft.com/office/drawing/2014/main" id="{5FD4F232-19AB-8417-F945-213C11887A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96282" y="5468243"/>
                <a:ext cx="4400314" cy="701203"/>
              </a:xfrm>
              <a:prstGeom prst="rect">
                <a:avLst/>
              </a:prstGeom>
            </p:spPr>
          </p:pic>
        </p:grpSp>
      </p:grpSp>
      <p:pic>
        <p:nvPicPr>
          <p:cNvPr id="13" name="Picture 12">
            <a:extLst>
              <a:ext uri="{FF2B5EF4-FFF2-40B4-BE49-F238E27FC236}">
                <a16:creationId xmlns:a16="http://schemas.microsoft.com/office/drawing/2014/main" id="{D9F3F8A4-9645-4F19-E384-D0593A855E6C}"/>
              </a:ext>
            </a:extLst>
          </p:cNvPr>
          <p:cNvPicPr>
            <a:picLocks noChangeAspect="1"/>
          </p:cNvPicPr>
          <p:nvPr/>
        </p:nvPicPr>
        <p:blipFill>
          <a:blip r:embed="rId7"/>
          <a:stretch>
            <a:fillRect/>
          </a:stretch>
        </p:blipFill>
        <p:spPr>
          <a:xfrm>
            <a:off x="5705510" y="2347424"/>
            <a:ext cx="390489" cy="444500"/>
          </a:xfrm>
          <a:prstGeom prst="rect">
            <a:avLst/>
          </a:prstGeom>
        </p:spPr>
      </p:pic>
      <p:sp>
        <p:nvSpPr>
          <p:cNvPr id="17" name="TextBox 16">
            <a:extLst>
              <a:ext uri="{FF2B5EF4-FFF2-40B4-BE49-F238E27FC236}">
                <a16:creationId xmlns:a16="http://schemas.microsoft.com/office/drawing/2014/main" id="{E3CBE559-93DA-36CC-2CDB-E30D01F376B3}"/>
              </a:ext>
            </a:extLst>
          </p:cNvPr>
          <p:cNvSpPr txBox="1"/>
          <p:nvPr/>
        </p:nvSpPr>
        <p:spPr>
          <a:xfrm>
            <a:off x="1295401" y="5191244"/>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2.1: Number of Employees That Has Left The Company </a:t>
            </a:r>
          </a:p>
        </p:txBody>
      </p:sp>
      <p:sp>
        <p:nvSpPr>
          <p:cNvPr id="18" name="TextBox 17">
            <a:extLst>
              <a:ext uri="{FF2B5EF4-FFF2-40B4-BE49-F238E27FC236}">
                <a16:creationId xmlns:a16="http://schemas.microsoft.com/office/drawing/2014/main" id="{F5FE9EAB-8BAA-B466-31A4-667893930143}"/>
              </a:ext>
            </a:extLst>
          </p:cNvPr>
          <p:cNvSpPr txBox="1"/>
          <p:nvPr/>
        </p:nvSpPr>
        <p:spPr>
          <a:xfrm>
            <a:off x="6095998" y="5890872"/>
            <a:ext cx="4743252"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2.2b: Number of Employees With A P-Score of less than 3.5</a:t>
            </a:r>
          </a:p>
        </p:txBody>
      </p:sp>
      <p:sp>
        <p:nvSpPr>
          <p:cNvPr id="19" name="TextBox 18">
            <a:extLst>
              <a:ext uri="{FF2B5EF4-FFF2-40B4-BE49-F238E27FC236}">
                <a16:creationId xmlns:a16="http://schemas.microsoft.com/office/drawing/2014/main" id="{007F2BE1-C68B-FA85-A68A-AD1FE28BA18F}"/>
              </a:ext>
            </a:extLst>
          </p:cNvPr>
          <p:cNvSpPr txBox="1"/>
          <p:nvPr/>
        </p:nvSpPr>
        <p:spPr>
          <a:xfrm>
            <a:off x="6084980" y="3120567"/>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2.2a: Number of Employees With A P-Score of 5.0</a:t>
            </a:r>
          </a:p>
        </p:txBody>
      </p:sp>
      <p:sp>
        <p:nvSpPr>
          <p:cNvPr id="3" name="Slide Number Placeholder 2">
            <a:extLst>
              <a:ext uri="{FF2B5EF4-FFF2-40B4-BE49-F238E27FC236}">
                <a16:creationId xmlns:a16="http://schemas.microsoft.com/office/drawing/2014/main" id="{C497C7A8-3356-7CB9-9566-3FCE286C708E}"/>
              </a:ext>
            </a:extLst>
          </p:cNvPr>
          <p:cNvSpPr>
            <a:spLocks noGrp="1"/>
          </p:cNvSpPr>
          <p:nvPr>
            <p:ph type="sldNum" sz="quarter" idx="12"/>
          </p:nvPr>
        </p:nvSpPr>
        <p:spPr/>
        <p:txBody>
          <a:bodyPr/>
          <a:lstStyle/>
          <a:p>
            <a:fld id="{E97799C9-84D9-46D2-A11E-BCF8A720529D}" type="slidenum">
              <a:rPr lang="en-US" smtClean="0"/>
              <a:t>7</a:t>
            </a:fld>
            <a:endParaRPr lang="en-US" dirty="0"/>
          </a:p>
        </p:txBody>
      </p:sp>
    </p:spTree>
    <p:extLst>
      <p:ext uri="{BB962C8B-B14F-4D97-AF65-F5344CB8AC3E}">
        <p14:creationId xmlns:p14="http://schemas.microsoft.com/office/powerpoint/2010/main" val="663455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DDBA-17DF-5376-9324-B85057FC8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BF762-7FF4-9778-4C80-A35C3171DBA5}"/>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7. Which department has the most employees with a performance score </a:t>
            </a:r>
            <a:br>
              <a:rPr lang="en-US" sz="2200" b="1" dirty="0">
                <a:solidFill>
                  <a:schemeClr val="accent4">
                    <a:lumMod val="50000"/>
                  </a:schemeClr>
                </a:solidFill>
              </a:rPr>
            </a:br>
            <a:r>
              <a:rPr lang="en-US" sz="2200" b="1" dirty="0">
                <a:solidFill>
                  <a:schemeClr val="accent4">
                    <a:lumMod val="50000"/>
                  </a:schemeClr>
                </a:solidFill>
              </a:rPr>
              <a:t>of 5.0 ? And below 3.5? </a:t>
            </a:r>
            <a:br>
              <a:rPr lang="en-US" sz="2200" dirty="0">
                <a:solidFill>
                  <a:schemeClr val="accent4">
                    <a:lumMod val="50000"/>
                  </a:schemeClr>
                </a:solidFill>
              </a:rPr>
            </a:br>
            <a:br>
              <a:rPr lang="en-US" sz="2200" dirty="0">
                <a:solidFill>
                  <a:schemeClr val="accent4">
                    <a:lumMod val="50000"/>
                  </a:schemeClr>
                </a:solidFill>
              </a:rPr>
            </a:br>
            <a:r>
              <a:rPr lang="en-US" sz="2200" b="1" dirty="0">
                <a:solidFill>
                  <a:schemeClr val="accent4">
                    <a:lumMod val="50000"/>
                  </a:schemeClr>
                </a:solidFill>
              </a:rPr>
              <a:t>8. What is the average performance score by department ? </a:t>
            </a:r>
            <a:br>
              <a:rPr lang="en-US" sz="2000" dirty="0">
                <a:solidFill>
                  <a:schemeClr val="accent4">
                    <a:lumMod val="50000"/>
                  </a:schemeClr>
                </a:solidFill>
              </a:rPr>
            </a:br>
            <a:endParaRPr lang="en-US" sz="2000" b="1" dirty="0">
              <a:solidFill>
                <a:schemeClr val="accent4">
                  <a:lumMod val="50000"/>
                </a:schemeClr>
              </a:solidFill>
            </a:endParaRPr>
          </a:p>
        </p:txBody>
      </p:sp>
      <p:grpSp>
        <p:nvGrpSpPr>
          <p:cNvPr id="14" name="Group 13">
            <a:extLst>
              <a:ext uri="{FF2B5EF4-FFF2-40B4-BE49-F238E27FC236}">
                <a16:creationId xmlns:a16="http://schemas.microsoft.com/office/drawing/2014/main" id="{40167F60-515B-F34C-3B9B-DA02D4466897}"/>
              </a:ext>
            </a:extLst>
          </p:cNvPr>
          <p:cNvGrpSpPr/>
          <p:nvPr/>
        </p:nvGrpSpPr>
        <p:grpSpPr>
          <a:xfrm>
            <a:off x="1317435" y="2448498"/>
            <a:ext cx="4505588" cy="3494339"/>
            <a:chOff x="1295401" y="2448498"/>
            <a:chExt cx="4505588" cy="3494339"/>
          </a:xfrm>
        </p:grpSpPr>
        <p:pic>
          <p:nvPicPr>
            <p:cNvPr id="12" name="Picture 11">
              <a:extLst>
                <a:ext uri="{FF2B5EF4-FFF2-40B4-BE49-F238E27FC236}">
                  <a16:creationId xmlns:a16="http://schemas.microsoft.com/office/drawing/2014/main" id="{B05A2830-8978-B283-5719-8D77DD99F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1" y="2448498"/>
              <a:ext cx="4505588" cy="1498600"/>
            </a:xfrm>
            <a:prstGeom prst="rect">
              <a:avLst/>
            </a:prstGeom>
          </p:spPr>
        </p:pic>
        <p:pic>
          <p:nvPicPr>
            <p:cNvPr id="13" name="Picture 12">
              <a:extLst>
                <a:ext uri="{FF2B5EF4-FFF2-40B4-BE49-F238E27FC236}">
                  <a16:creationId xmlns:a16="http://schemas.microsoft.com/office/drawing/2014/main" id="{B938FDCE-A13F-CFA2-2B51-F6182502B2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1" y="4126737"/>
              <a:ext cx="4505588" cy="1816100"/>
            </a:xfrm>
            <a:prstGeom prst="rect">
              <a:avLst/>
            </a:prstGeom>
          </p:spPr>
        </p:pic>
      </p:grpSp>
      <p:pic>
        <p:nvPicPr>
          <p:cNvPr id="15" name="Picture 14">
            <a:extLst>
              <a:ext uri="{FF2B5EF4-FFF2-40B4-BE49-F238E27FC236}">
                <a16:creationId xmlns:a16="http://schemas.microsoft.com/office/drawing/2014/main" id="{E792EC11-9A9E-C467-3A98-5EF2746C51DC}"/>
              </a:ext>
            </a:extLst>
          </p:cNvPr>
          <p:cNvPicPr>
            <a:picLocks noChangeAspect="1"/>
          </p:cNvPicPr>
          <p:nvPr/>
        </p:nvPicPr>
        <p:blipFill>
          <a:blip r:embed="rId4">
            <a:extLst>
              <a:ext uri="{28A0092B-C50C-407E-A947-70E740481C1C}">
                <a14:useLocalDpi xmlns:a14="http://schemas.microsoft.com/office/drawing/2010/main" val="0"/>
              </a:ext>
            </a:extLst>
          </a:blip>
          <a:srcRect t="3288"/>
          <a:stretch>
            <a:fillRect/>
          </a:stretch>
        </p:blipFill>
        <p:spPr>
          <a:xfrm>
            <a:off x="6088653" y="2445743"/>
            <a:ext cx="4807943" cy="2511845"/>
          </a:xfrm>
          <a:prstGeom prst="rect">
            <a:avLst/>
          </a:prstGeom>
        </p:spPr>
      </p:pic>
      <p:pic>
        <p:nvPicPr>
          <p:cNvPr id="17" name="Picture 16">
            <a:extLst>
              <a:ext uri="{FF2B5EF4-FFF2-40B4-BE49-F238E27FC236}">
                <a16:creationId xmlns:a16="http://schemas.microsoft.com/office/drawing/2014/main" id="{D2A0CA3B-0566-1F87-BCD6-F60378865D59}"/>
              </a:ext>
            </a:extLst>
          </p:cNvPr>
          <p:cNvPicPr>
            <a:picLocks noChangeAspect="1"/>
          </p:cNvPicPr>
          <p:nvPr/>
        </p:nvPicPr>
        <p:blipFill>
          <a:blip r:embed="rId5"/>
          <a:stretch>
            <a:fillRect/>
          </a:stretch>
        </p:blipFill>
        <p:spPr>
          <a:xfrm>
            <a:off x="5804661" y="2314379"/>
            <a:ext cx="309696" cy="444500"/>
          </a:xfrm>
          <a:prstGeom prst="rect">
            <a:avLst/>
          </a:prstGeom>
        </p:spPr>
      </p:pic>
      <p:sp>
        <p:nvSpPr>
          <p:cNvPr id="18" name="TextBox 17">
            <a:extLst>
              <a:ext uri="{FF2B5EF4-FFF2-40B4-BE49-F238E27FC236}">
                <a16:creationId xmlns:a16="http://schemas.microsoft.com/office/drawing/2014/main" id="{3A23D2B7-5B8F-33D4-9A3B-D8AC57967081}"/>
              </a:ext>
            </a:extLst>
          </p:cNvPr>
          <p:cNvSpPr txBox="1"/>
          <p:nvPr/>
        </p:nvSpPr>
        <p:spPr>
          <a:xfrm>
            <a:off x="1317435" y="3903163"/>
            <a:ext cx="450558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2.3a: Department With Employees with P-Score of 5.0</a:t>
            </a:r>
          </a:p>
        </p:txBody>
      </p:sp>
      <p:sp>
        <p:nvSpPr>
          <p:cNvPr id="19" name="TextBox 18">
            <a:extLst>
              <a:ext uri="{FF2B5EF4-FFF2-40B4-BE49-F238E27FC236}">
                <a16:creationId xmlns:a16="http://schemas.microsoft.com/office/drawing/2014/main" id="{A2F113F4-C203-79D6-227A-F98B4A3F31F2}"/>
              </a:ext>
            </a:extLst>
          </p:cNvPr>
          <p:cNvSpPr txBox="1"/>
          <p:nvPr/>
        </p:nvSpPr>
        <p:spPr>
          <a:xfrm>
            <a:off x="1174215" y="5936566"/>
            <a:ext cx="491443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2.3a: Department With Employees with P-Score of less than 3.5</a:t>
            </a:r>
          </a:p>
        </p:txBody>
      </p:sp>
      <p:sp>
        <p:nvSpPr>
          <p:cNvPr id="20" name="TextBox 19">
            <a:extLst>
              <a:ext uri="{FF2B5EF4-FFF2-40B4-BE49-F238E27FC236}">
                <a16:creationId xmlns:a16="http://schemas.microsoft.com/office/drawing/2014/main" id="{18C34414-CA4B-DCB2-454D-1E9BBDCE2A4A}"/>
              </a:ext>
            </a:extLst>
          </p:cNvPr>
          <p:cNvSpPr txBox="1"/>
          <p:nvPr/>
        </p:nvSpPr>
        <p:spPr>
          <a:xfrm>
            <a:off x="6114357" y="4896204"/>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2.4: Average Performance Score By Department</a:t>
            </a:r>
          </a:p>
        </p:txBody>
      </p:sp>
      <p:sp>
        <p:nvSpPr>
          <p:cNvPr id="3" name="Slide Number Placeholder 2">
            <a:extLst>
              <a:ext uri="{FF2B5EF4-FFF2-40B4-BE49-F238E27FC236}">
                <a16:creationId xmlns:a16="http://schemas.microsoft.com/office/drawing/2014/main" id="{532575E0-2086-9199-8B60-A4A463F568BD}"/>
              </a:ext>
            </a:extLst>
          </p:cNvPr>
          <p:cNvSpPr>
            <a:spLocks noGrp="1"/>
          </p:cNvSpPr>
          <p:nvPr>
            <p:ph type="sldNum" sz="quarter" idx="12"/>
          </p:nvPr>
        </p:nvSpPr>
        <p:spPr/>
        <p:txBody>
          <a:bodyPr/>
          <a:lstStyle/>
          <a:p>
            <a:fld id="{E97799C9-84D9-46D2-A11E-BCF8A720529D}" type="slidenum">
              <a:rPr lang="en-US" smtClean="0"/>
              <a:t>8</a:t>
            </a:fld>
            <a:endParaRPr lang="en-US" dirty="0"/>
          </a:p>
        </p:txBody>
      </p:sp>
    </p:spTree>
    <p:extLst>
      <p:ext uri="{BB962C8B-B14F-4D97-AF65-F5344CB8AC3E}">
        <p14:creationId xmlns:p14="http://schemas.microsoft.com/office/powerpoint/2010/main" val="93703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F1B3-EDB4-7770-3C82-1AF48A6C5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42043-6269-DA4C-7C37-ABAD1D445961}"/>
              </a:ext>
            </a:extLst>
          </p:cNvPr>
          <p:cNvSpPr>
            <a:spLocks noGrp="1"/>
          </p:cNvSpPr>
          <p:nvPr>
            <p:ph type="title"/>
          </p:nvPr>
        </p:nvSpPr>
        <p:spPr>
          <a:xfrm>
            <a:off x="804231" y="683046"/>
            <a:ext cx="8615190" cy="1602953"/>
          </a:xfrm>
        </p:spPr>
        <p:txBody>
          <a:bodyPr>
            <a:normAutofit/>
          </a:bodyPr>
          <a:lstStyle/>
          <a:p>
            <a:pPr algn="just"/>
            <a:r>
              <a:rPr lang="en-US" sz="2700" b="1" dirty="0">
                <a:solidFill>
                  <a:schemeClr val="accent4">
                    <a:lumMod val="75000"/>
                  </a:schemeClr>
                </a:solidFill>
              </a:rPr>
              <a:t>Analyze salary distribution and ensure fair compensation based on performance and departmental benchmarks.</a:t>
            </a:r>
            <a:endParaRPr lang="en-US" sz="2700" dirty="0">
              <a:solidFill>
                <a:schemeClr val="accent4">
                  <a:lumMod val="75000"/>
                </a:schemeClr>
              </a:solidFill>
            </a:endParaRPr>
          </a:p>
        </p:txBody>
      </p:sp>
      <p:sp>
        <p:nvSpPr>
          <p:cNvPr id="3" name="Content Placeholder 2">
            <a:extLst>
              <a:ext uri="{FF2B5EF4-FFF2-40B4-BE49-F238E27FC236}">
                <a16:creationId xmlns:a16="http://schemas.microsoft.com/office/drawing/2014/main" id="{44D7D50E-7DDE-B0ED-F80E-EEA14D3020C8}"/>
              </a:ext>
            </a:extLst>
          </p:cNvPr>
          <p:cNvSpPr>
            <a:spLocks noGrp="1"/>
          </p:cNvSpPr>
          <p:nvPr>
            <p:ph idx="1"/>
          </p:nvPr>
        </p:nvSpPr>
        <p:spPr/>
        <p:txBody>
          <a:bodyPr>
            <a:normAutofit lnSpcReduction="10000"/>
          </a:bodyPr>
          <a:lstStyle/>
          <a:p>
            <a:pPr marL="0" indent="0">
              <a:buNone/>
            </a:pPr>
            <a:r>
              <a:rPr lang="en-US" dirty="0">
                <a:solidFill>
                  <a:schemeClr val="accent4"/>
                </a:solidFill>
              </a:rPr>
              <a:t>The following slides analyzes the company’s remuneration policy with a view to recommending fair compensation based on departmental benchmark and performance. Questions to answer here are:</a:t>
            </a:r>
          </a:p>
          <a:p>
            <a:r>
              <a:rPr lang="en-US" dirty="0">
                <a:solidFill>
                  <a:schemeClr val="accent4">
                    <a:lumMod val="50000"/>
                  </a:schemeClr>
                </a:solidFill>
              </a:rPr>
              <a:t>What is the total salary expense for the company?</a:t>
            </a:r>
          </a:p>
          <a:p>
            <a:r>
              <a:rPr lang="en-US" dirty="0">
                <a:solidFill>
                  <a:schemeClr val="accent4">
                    <a:lumMod val="50000"/>
                  </a:schemeClr>
                </a:solidFill>
              </a:rPr>
              <a:t>What is the average salary by job title? </a:t>
            </a:r>
          </a:p>
          <a:p>
            <a:r>
              <a:rPr lang="en-US" dirty="0">
                <a:solidFill>
                  <a:schemeClr val="accent4">
                    <a:lumMod val="50000"/>
                  </a:schemeClr>
                </a:solidFill>
              </a:rPr>
              <a:t>How many employees earn above 80,000? </a:t>
            </a:r>
          </a:p>
          <a:p>
            <a:r>
              <a:rPr lang="en-US" dirty="0">
                <a:solidFill>
                  <a:schemeClr val="accent4">
                    <a:lumMod val="50000"/>
                  </a:schemeClr>
                </a:solidFill>
              </a:rPr>
              <a:t>How does performance correlate with salary across departments?</a:t>
            </a:r>
          </a:p>
          <a:p>
            <a:endParaRPr lang="en-US" dirty="0"/>
          </a:p>
          <a:p>
            <a:endParaRPr lang="en-US" dirty="0"/>
          </a:p>
        </p:txBody>
      </p:sp>
      <p:sp>
        <p:nvSpPr>
          <p:cNvPr id="4" name="Slide Number Placeholder 3">
            <a:extLst>
              <a:ext uri="{FF2B5EF4-FFF2-40B4-BE49-F238E27FC236}">
                <a16:creationId xmlns:a16="http://schemas.microsoft.com/office/drawing/2014/main" id="{718E3EB7-7700-070E-01BE-6886222C5807}"/>
              </a:ext>
            </a:extLst>
          </p:cNvPr>
          <p:cNvSpPr>
            <a:spLocks noGrp="1"/>
          </p:cNvSpPr>
          <p:nvPr>
            <p:ph type="sldNum" sz="quarter" idx="12"/>
          </p:nvPr>
        </p:nvSpPr>
        <p:spPr/>
        <p:txBody>
          <a:bodyPr/>
          <a:lstStyle/>
          <a:p>
            <a:fld id="{E97799C9-84D9-46D2-A11E-BCF8A720529D}" type="slidenum">
              <a:rPr lang="en-US" smtClean="0"/>
              <a:t>9</a:t>
            </a:fld>
            <a:endParaRPr lang="en-US" dirty="0"/>
          </a:p>
        </p:txBody>
      </p:sp>
    </p:spTree>
    <p:extLst>
      <p:ext uri="{BB962C8B-B14F-4D97-AF65-F5344CB8AC3E}">
        <p14:creationId xmlns:p14="http://schemas.microsoft.com/office/powerpoint/2010/main" val="313703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84F2B-0EEC-E26F-3AE9-805790F88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090A3-8156-170E-858B-6838D75E7BF0}"/>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9. What is the total salary expense for the company?</a:t>
            </a:r>
            <a:br>
              <a:rPr lang="en-US" sz="2200" b="1" dirty="0">
                <a:solidFill>
                  <a:schemeClr val="accent4">
                    <a:lumMod val="50000"/>
                  </a:schemeClr>
                </a:solidFill>
              </a:rPr>
            </a:br>
            <a:br>
              <a:rPr lang="en-US" sz="2200" b="1" dirty="0">
                <a:solidFill>
                  <a:schemeClr val="accent4">
                    <a:lumMod val="50000"/>
                  </a:schemeClr>
                </a:solidFill>
              </a:rPr>
            </a:br>
            <a:r>
              <a:rPr lang="en-US" sz="2200" b="1" dirty="0">
                <a:solidFill>
                  <a:schemeClr val="accent4">
                    <a:lumMod val="50000"/>
                  </a:schemeClr>
                </a:solidFill>
              </a:rPr>
              <a:t>10. What is the average salary by job title?</a:t>
            </a:r>
            <a:br>
              <a:rPr lang="en-US" sz="2200" b="1" dirty="0">
                <a:solidFill>
                  <a:schemeClr val="accent4">
                    <a:lumMod val="50000"/>
                  </a:schemeClr>
                </a:solidFill>
              </a:rPr>
            </a:br>
            <a:endParaRPr lang="en-US" sz="2200" b="1" dirty="0">
              <a:solidFill>
                <a:schemeClr val="accent4">
                  <a:lumMod val="50000"/>
                </a:schemeClr>
              </a:solidFill>
            </a:endParaRPr>
          </a:p>
        </p:txBody>
      </p:sp>
      <p:pic>
        <p:nvPicPr>
          <p:cNvPr id="8" name="Picture 7">
            <a:extLst>
              <a:ext uri="{FF2B5EF4-FFF2-40B4-BE49-F238E27FC236}">
                <a16:creationId xmlns:a16="http://schemas.microsoft.com/office/drawing/2014/main" id="{B04CA41D-8AB9-675E-E0D5-3F5F2BE4CC94}"/>
              </a:ext>
            </a:extLst>
          </p:cNvPr>
          <p:cNvPicPr>
            <a:picLocks noChangeAspect="1"/>
          </p:cNvPicPr>
          <p:nvPr/>
        </p:nvPicPr>
        <p:blipFill>
          <a:blip r:embed="rId2">
            <a:extLst>
              <a:ext uri="{28A0092B-C50C-407E-A947-70E740481C1C}">
                <a14:useLocalDpi xmlns:a14="http://schemas.microsoft.com/office/drawing/2010/main" val="0"/>
              </a:ext>
            </a:extLst>
          </a:blip>
          <a:srcRect t="2106"/>
          <a:stretch>
            <a:fillRect/>
          </a:stretch>
        </p:blipFill>
        <p:spPr>
          <a:xfrm>
            <a:off x="5985828" y="2456761"/>
            <a:ext cx="4822635" cy="2560624"/>
          </a:xfrm>
          <a:prstGeom prst="rect">
            <a:avLst/>
          </a:prstGeom>
        </p:spPr>
      </p:pic>
      <p:pic>
        <p:nvPicPr>
          <p:cNvPr id="10" name="Picture 9">
            <a:extLst>
              <a:ext uri="{FF2B5EF4-FFF2-40B4-BE49-F238E27FC236}">
                <a16:creationId xmlns:a16="http://schemas.microsoft.com/office/drawing/2014/main" id="{5E6DD463-7082-2746-88DB-A1D30F28807D}"/>
              </a:ext>
            </a:extLst>
          </p:cNvPr>
          <p:cNvPicPr>
            <a:picLocks noChangeAspect="1"/>
          </p:cNvPicPr>
          <p:nvPr/>
        </p:nvPicPr>
        <p:blipFill>
          <a:blip r:embed="rId3"/>
          <a:stretch>
            <a:fillRect/>
          </a:stretch>
        </p:blipFill>
        <p:spPr>
          <a:xfrm>
            <a:off x="5600159" y="2234510"/>
            <a:ext cx="406400" cy="444500"/>
          </a:xfrm>
          <a:prstGeom prst="rect">
            <a:avLst/>
          </a:prstGeom>
        </p:spPr>
      </p:pic>
      <p:sp>
        <p:nvSpPr>
          <p:cNvPr id="11" name="TextBox 10">
            <a:extLst>
              <a:ext uri="{FF2B5EF4-FFF2-40B4-BE49-F238E27FC236}">
                <a16:creationId xmlns:a16="http://schemas.microsoft.com/office/drawing/2014/main" id="{C76E71D6-28ED-6635-88FB-3324526443AD}"/>
              </a:ext>
            </a:extLst>
          </p:cNvPr>
          <p:cNvSpPr txBox="1"/>
          <p:nvPr/>
        </p:nvSpPr>
        <p:spPr>
          <a:xfrm>
            <a:off x="1295401" y="3976835"/>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3.1: Total Salary Expense Of The Company </a:t>
            </a:r>
          </a:p>
        </p:txBody>
      </p:sp>
      <p:pic>
        <p:nvPicPr>
          <p:cNvPr id="12" name="Picture 11">
            <a:extLst>
              <a:ext uri="{FF2B5EF4-FFF2-40B4-BE49-F238E27FC236}">
                <a16:creationId xmlns:a16="http://schemas.microsoft.com/office/drawing/2014/main" id="{7B22CA0C-D3B4-E62F-1222-40F8441042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1" y="2462065"/>
            <a:ext cx="4360702" cy="1514770"/>
          </a:xfrm>
          <a:prstGeom prst="rect">
            <a:avLst/>
          </a:prstGeom>
        </p:spPr>
      </p:pic>
      <p:sp>
        <p:nvSpPr>
          <p:cNvPr id="13" name="TextBox 12">
            <a:extLst>
              <a:ext uri="{FF2B5EF4-FFF2-40B4-BE49-F238E27FC236}">
                <a16:creationId xmlns:a16="http://schemas.microsoft.com/office/drawing/2014/main" id="{23E9BA49-5A7F-6BA0-8B90-F4D669B16A74}"/>
              </a:ext>
            </a:extLst>
          </p:cNvPr>
          <p:cNvSpPr txBox="1"/>
          <p:nvPr/>
        </p:nvSpPr>
        <p:spPr>
          <a:xfrm>
            <a:off x="6006559" y="5017385"/>
            <a:ext cx="4389914"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3.2: Average Salary By Job Title</a:t>
            </a:r>
          </a:p>
        </p:txBody>
      </p:sp>
      <p:sp>
        <p:nvSpPr>
          <p:cNvPr id="3" name="Slide Number Placeholder 2">
            <a:extLst>
              <a:ext uri="{FF2B5EF4-FFF2-40B4-BE49-F238E27FC236}">
                <a16:creationId xmlns:a16="http://schemas.microsoft.com/office/drawing/2014/main" id="{7030D37E-C573-09A8-0FD0-181F731D9757}"/>
              </a:ext>
            </a:extLst>
          </p:cNvPr>
          <p:cNvSpPr>
            <a:spLocks noGrp="1"/>
          </p:cNvSpPr>
          <p:nvPr>
            <p:ph type="sldNum" sz="quarter" idx="12"/>
          </p:nvPr>
        </p:nvSpPr>
        <p:spPr/>
        <p:txBody>
          <a:bodyPr/>
          <a:lstStyle/>
          <a:p>
            <a:fld id="{E97799C9-84D9-46D2-A11E-BCF8A720529D}" type="slidenum">
              <a:rPr lang="en-US" smtClean="0"/>
              <a:t>10</a:t>
            </a:fld>
            <a:endParaRPr lang="en-US" dirty="0"/>
          </a:p>
        </p:txBody>
      </p:sp>
    </p:spTree>
    <p:extLst>
      <p:ext uri="{BB962C8B-B14F-4D97-AF65-F5344CB8AC3E}">
        <p14:creationId xmlns:p14="http://schemas.microsoft.com/office/powerpoint/2010/main" val="3897481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82C25-71D3-590E-DAB0-74D7D9C09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B83AC-FF44-B14B-0956-6073AB020336}"/>
              </a:ext>
            </a:extLst>
          </p:cNvPr>
          <p:cNvSpPr>
            <a:spLocks noGrp="1"/>
          </p:cNvSpPr>
          <p:nvPr>
            <p:ph type="title"/>
          </p:nvPr>
        </p:nvSpPr>
        <p:spPr>
          <a:xfrm>
            <a:off x="1295401" y="1389757"/>
            <a:ext cx="9601195" cy="978870"/>
          </a:xfrm>
        </p:spPr>
        <p:txBody>
          <a:bodyPr numCol="2">
            <a:noAutofit/>
          </a:bodyPr>
          <a:lstStyle/>
          <a:p>
            <a:pPr algn="l"/>
            <a:r>
              <a:rPr lang="en-US" sz="2200" b="1" dirty="0">
                <a:solidFill>
                  <a:schemeClr val="accent4">
                    <a:lumMod val="50000"/>
                  </a:schemeClr>
                </a:solidFill>
              </a:rPr>
              <a:t>11. How many employees earn </a:t>
            </a:r>
            <a:br>
              <a:rPr lang="en-US" sz="2200" b="1" dirty="0">
                <a:solidFill>
                  <a:schemeClr val="accent4">
                    <a:lumMod val="50000"/>
                  </a:schemeClr>
                </a:solidFill>
              </a:rPr>
            </a:br>
            <a:r>
              <a:rPr lang="en-US" sz="2200" b="1" dirty="0">
                <a:solidFill>
                  <a:schemeClr val="accent4">
                    <a:lumMod val="50000"/>
                  </a:schemeClr>
                </a:solidFill>
              </a:rPr>
              <a:t>above 80,000?</a:t>
            </a:r>
            <a:br>
              <a:rPr lang="en-US" sz="2200" b="1" dirty="0">
                <a:solidFill>
                  <a:schemeClr val="accent4">
                    <a:lumMod val="50000"/>
                  </a:schemeClr>
                </a:solidFill>
              </a:rPr>
            </a:br>
            <a:r>
              <a:rPr lang="en-US" sz="2200" b="1" dirty="0">
                <a:solidFill>
                  <a:schemeClr val="accent4">
                    <a:lumMod val="50000"/>
                  </a:schemeClr>
                </a:solidFill>
              </a:rPr>
              <a:t>(a) Across Departments</a:t>
            </a:r>
            <a:br>
              <a:rPr lang="en-US" sz="2200" b="1" dirty="0">
                <a:solidFill>
                  <a:schemeClr val="accent4">
                    <a:lumMod val="50000"/>
                  </a:schemeClr>
                </a:solidFill>
              </a:rPr>
            </a:br>
            <a:br>
              <a:rPr lang="en-US" sz="2200" b="1" dirty="0">
                <a:solidFill>
                  <a:schemeClr val="accent4">
                    <a:lumMod val="50000"/>
                  </a:schemeClr>
                </a:solidFill>
              </a:rPr>
            </a:br>
            <a:r>
              <a:rPr lang="en-US" sz="2200" b="1" dirty="0">
                <a:solidFill>
                  <a:schemeClr val="accent4">
                    <a:lumMod val="50000"/>
                  </a:schemeClr>
                </a:solidFill>
              </a:rPr>
              <a:t>11. How many employees earn </a:t>
            </a:r>
            <a:br>
              <a:rPr lang="en-US" sz="2200" b="1" dirty="0">
                <a:solidFill>
                  <a:schemeClr val="accent4">
                    <a:lumMod val="50000"/>
                  </a:schemeClr>
                </a:solidFill>
              </a:rPr>
            </a:br>
            <a:r>
              <a:rPr lang="en-US" sz="2200" b="1" dirty="0">
                <a:solidFill>
                  <a:schemeClr val="accent4">
                    <a:lumMod val="50000"/>
                  </a:schemeClr>
                </a:solidFill>
              </a:rPr>
              <a:t>above 80,000?</a:t>
            </a:r>
            <a:br>
              <a:rPr lang="en-US" sz="2200" b="1" dirty="0">
                <a:solidFill>
                  <a:schemeClr val="accent4">
                    <a:lumMod val="50000"/>
                  </a:schemeClr>
                </a:solidFill>
              </a:rPr>
            </a:br>
            <a:r>
              <a:rPr lang="en-US" sz="2200" b="1" dirty="0">
                <a:solidFill>
                  <a:schemeClr val="accent4">
                    <a:lumMod val="50000"/>
                  </a:schemeClr>
                </a:solidFill>
              </a:rPr>
              <a:t>(b) Across Job Titles</a:t>
            </a:r>
            <a:br>
              <a:rPr lang="en-US" sz="2200" b="1" dirty="0">
                <a:solidFill>
                  <a:schemeClr val="accent4">
                    <a:lumMod val="50000"/>
                  </a:schemeClr>
                </a:solidFill>
              </a:rPr>
            </a:br>
            <a:endParaRPr lang="en-US" sz="2200" b="1" dirty="0">
              <a:solidFill>
                <a:schemeClr val="accent4">
                  <a:lumMod val="50000"/>
                </a:schemeClr>
              </a:solidFill>
            </a:endParaRPr>
          </a:p>
        </p:txBody>
      </p:sp>
      <p:pic>
        <p:nvPicPr>
          <p:cNvPr id="10" name="Picture 9">
            <a:extLst>
              <a:ext uri="{FF2B5EF4-FFF2-40B4-BE49-F238E27FC236}">
                <a16:creationId xmlns:a16="http://schemas.microsoft.com/office/drawing/2014/main" id="{E42A56E4-A8E2-FB26-98A3-02750C3E910D}"/>
              </a:ext>
            </a:extLst>
          </p:cNvPr>
          <p:cNvPicPr>
            <a:picLocks noChangeAspect="1"/>
          </p:cNvPicPr>
          <p:nvPr/>
        </p:nvPicPr>
        <p:blipFill>
          <a:blip r:embed="rId2"/>
          <a:stretch>
            <a:fillRect/>
          </a:stretch>
        </p:blipFill>
        <p:spPr>
          <a:xfrm>
            <a:off x="5600159" y="2234510"/>
            <a:ext cx="406400" cy="444500"/>
          </a:xfrm>
          <a:prstGeom prst="rect">
            <a:avLst/>
          </a:prstGeom>
        </p:spPr>
      </p:pic>
      <p:grpSp>
        <p:nvGrpSpPr>
          <p:cNvPr id="6" name="Group 5">
            <a:extLst>
              <a:ext uri="{FF2B5EF4-FFF2-40B4-BE49-F238E27FC236}">
                <a16:creationId xmlns:a16="http://schemas.microsoft.com/office/drawing/2014/main" id="{88FA0EE6-FDBB-A820-10AF-931AA4826556}"/>
              </a:ext>
            </a:extLst>
          </p:cNvPr>
          <p:cNvGrpSpPr/>
          <p:nvPr/>
        </p:nvGrpSpPr>
        <p:grpSpPr>
          <a:xfrm>
            <a:off x="1295401" y="2456760"/>
            <a:ext cx="4304758" cy="2692400"/>
            <a:chOff x="1295401" y="2456760"/>
            <a:chExt cx="4304758" cy="2692400"/>
          </a:xfrm>
        </p:grpSpPr>
        <p:pic>
          <p:nvPicPr>
            <p:cNvPr id="4" name="Picture 3">
              <a:extLst>
                <a:ext uri="{FF2B5EF4-FFF2-40B4-BE49-F238E27FC236}">
                  <a16:creationId xmlns:a16="http://schemas.microsoft.com/office/drawing/2014/main" id="{DD4C1CF9-A4CD-1873-5B6E-4E8A0C3EBD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1" y="2456760"/>
              <a:ext cx="4304758" cy="1816100"/>
            </a:xfrm>
            <a:prstGeom prst="rect">
              <a:avLst/>
            </a:prstGeom>
          </p:spPr>
        </p:pic>
        <p:pic>
          <p:nvPicPr>
            <p:cNvPr id="5" name="Picture 4">
              <a:extLst>
                <a:ext uri="{FF2B5EF4-FFF2-40B4-BE49-F238E27FC236}">
                  <a16:creationId xmlns:a16="http://schemas.microsoft.com/office/drawing/2014/main" id="{D7CE34BC-0315-ADF2-A62B-757C7B6A8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01" y="4272860"/>
              <a:ext cx="4304758" cy="876300"/>
            </a:xfrm>
            <a:prstGeom prst="rect">
              <a:avLst/>
            </a:prstGeom>
          </p:spPr>
        </p:pic>
      </p:grpSp>
      <p:grpSp>
        <p:nvGrpSpPr>
          <p:cNvPr id="12" name="Group 11">
            <a:extLst>
              <a:ext uri="{FF2B5EF4-FFF2-40B4-BE49-F238E27FC236}">
                <a16:creationId xmlns:a16="http://schemas.microsoft.com/office/drawing/2014/main" id="{E5B8CEB9-D8CB-1B18-96D0-07CAD389D8F9}"/>
              </a:ext>
            </a:extLst>
          </p:cNvPr>
          <p:cNvGrpSpPr/>
          <p:nvPr/>
        </p:nvGrpSpPr>
        <p:grpSpPr>
          <a:xfrm>
            <a:off x="6006559" y="2456760"/>
            <a:ext cx="4890037" cy="3014237"/>
            <a:chOff x="6006559" y="2456760"/>
            <a:chExt cx="4890037" cy="3014237"/>
          </a:xfrm>
        </p:grpSpPr>
        <p:pic>
          <p:nvPicPr>
            <p:cNvPr id="9" name="Picture 8">
              <a:extLst>
                <a:ext uri="{FF2B5EF4-FFF2-40B4-BE49-F238E27FC236}">
                  <a16:creationId xmlns:a16="http://schemas.microsoft.com/office/drawing/2014/main" id="{0E7547FC-64E2-688F-8DAC-405A6FE49D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6559" y="2456760"/>
              <a:ext cx="4890037" cy="2108200"/>
            </a:xfrm>
            <a:prstGeom prst="rect">
              <a:avLst/>
            </a:prstGeom>
          </p:spPr>
        </p:pic>
        <p:pic>
          <p:nvPicPr>
            <p:cNvPr id="11" name="Picture 10">
              <a:extLst>
                <a:ext uri="{FF2B5EF4-FFF2-40B4-BE49-F238E27FC236}">
                  <a16:creationId xmlns:a16="http://schemas.microsoft.com/office/drawing/2014/main" id="{50E42840-AF40-5B89-DB94-3264661F03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6559" y="4594697"/>
              <a:ext cx="4890036" cy="876300"/>
            </a:xfrm>
            <a:prstGeom prst="rect">
              <a:avLst/>
            </a:prstGeom>
          </p:spPr>
        </p:pic>
      </p:grpSp>
      <p:sp>
        <p:nvSpPr>
          <p:cNvPr id="13" name="TextBox 12">
            <a:extLst>
              <a:ext uri="{FF2B5EF4-FFF2-40B4-BE49-F238E27FC236}">
                <a16:creationId xmlns:a16="http://schemas.microsoft.com/office/drawing/2014/main" id="{14736836-42F2-FB55-56FC-BECD9235A046}"/>
              </a:ext>
            </a:extLst>
          </p:cNvPr>
          <p:cNvSpPr txBox="1"/>
          <p:nvPr/>
        </p:nvSpPr>
        <p:spPr>
          <a:xfrm>
            <a:off x="1210244" y="5149160"/>
            <a:ext cx="4606661"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3.3a: Employees Earning above 80,000 Across Departments</a:t>
            </a:r>
          </a:p>
        </p:txBody>
      </p:sp>
      <p:sp>
        <p:nvSpPr>
          <p:cNvPr id="14" name="TextBox 13">
            <a:extLst>
              <a:ext uri="{FF2B5EF4-FFF2-40B4-BE49-F238E27FC236}">
                <a16:creationId xmlns:a16="http://schemas.microsoft.com/office/drawing/2014/main" id="{3EDE03D1-0B25-6618-8DBF-DE3E13FEC7F7}"/>
              </a:ext>
            </a:extLst>
          </p:cNvPr>
          <p:cNvSpPr txBox="1"/>
          <p:nvPr/>
        </p:nvSpPr>
        <p:spPr>
          <a:xfrm>
            <a:off x="6006559" y="5426159"/>
            <a:ext cx="4890036"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3.3b: Employees Earning above 80,000 Across Job Titles</a:t>
            </a:r>
          </a:p>
        </p:txBody>
      </p:sp>
      <p:sp>
        <p:nvSpPr>
          <p:cNvPr id="3" name="Slide Number Placeholder 2">
            <a:extLst>
              <a:ext uri="{FF2B5EF4-FFF2-40B4-BE49-F238E27FC236}">
                <a16:creationId xmlns:a16="http://schemas.microsoft.com/office/drawing/2014/main" id="{7BFF43CF-5A10-0CE3-A1EA-684067FEA9EB}"/>
              </a:ext>
            </a:extLst>
          </p:cNvPr>
          <p:cNvSpPr>
            <a:spLocks noGrp="1"/>
          </p:cNvSpPr>
          <p:nvPr>
            <p:ph type="sldNum" sz="quarter" idx="12"/>
          </p:nvPr>
        </p:nvSpPr>
        <p:spPr/>
        <p:txBody>
          <a:bodyPr/>
          <a:lstStyle/>
          <a:p>
            <a:fld id="{E97799C9-84D9-46D2-A11E-BCF8A720529D}" type="slidenum">
              <a:rPr lang="en-US" smtClean="0"/>
              <a:t>11</a:t>
            </a:fld>
            <a:endParaRPr lang="en-US" dirty="0"/>
          </a:p>
        </p:txBody>
      </p:sp>
    </p:spTree>
    <p:extLst>
      <p:ext uri="{BB962C8B-B14F-4D97-AF65-F5344CB8AC3E}">
        <p14:creationId xmlns:p14="http://schemas.microsoft.com/office/powerpoint/2010/main" val="1052100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2F6E3-E48C-0AAD-894F-9F6EABE42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B95F1-9D8B-772C-5866-C2F159E0CEAF}"/>
              </a:ext>
            </a:extLst>
          </p:cNvPr>
          <p:cNvSpPr>
            <a:spLocks noGrp="1"/>
          </p:cNvSpPr>
          <p:nvPr>
            <p:ph type="title"/>
          </p:nvPr>
        </p:nvSpPr>
        <p:spPr>
          <a:xfrm>
            <a:off x="1205961" y="766204"/>
            <a:ext cx="9601195" cy="978870"/>
          </a:xfrm>
        </p:spPr>
        <p:txBody>
          <a:bodyPr numCol="2">
            <a:noAutofit/>
          </a:bodyPr>
          <a:lstStyle/>
          <a:p>
            <a:pPr algn="l"/>
            <a:r>
              <a:rPr lang="en-US" sz="2200" b="1" dirty="0">
                <a:solidFill>
                  <a:schemeClr val="accent4">
                    <a:lumMod val="50000"/>
                  </a:schemeClr>
                </a:solidFill>
              </a:rPr>
              <a:t>12. How does performance correlate with salary across departments?</a:t>
            </a:r>
            <a:br>
              <a:rPr lang="en-US" sz="2200" b="1" dirty="0">
                <a:solidFill>
                  <a:schemeClr val="accent4">
                    <a:lumMod val="50000"/>
                  </a:schemeClr>
                </a:solidFill>
              </a:rPr>
            </a:br>
            <a:r>
              <a:rPr lang="en-US" sz="2200" b="1" dirty="0">
                <a:solidFill>
                  <a:schemeClr val="accent4">
                    <a:lumMod val="50000"/>
                  </a:schemeClr>
                </a:solidFill>
              </a:rPr>
              <a:t>(a) For the lowest salary of 60,000.</a:t>
            </a:r>
            <a:br>
              <a:rPr lang="en-US" sz="2200" b="1" dirty="0">
                <a:solidFill>
                  <a:schemeClr val="accent4">
                    <a:lumMod val="50000"/>
                  </a:schemeClr>
                </a:solidFill>
              </a:rPr>
            </a:br>
            <a:r>
              <a:rPr lang="en-US" sz="2200" b="1" dirty="0">
                <a:solidFill>
                  <a:schemeClr val="accent4">
                    <a:lumMod val="50000"/>
                  </a:schemeClr>
                </a:solidFill>
              </a:rPr>
              <a:t>12. How does performance correlate with salary across departments?</a:t>
            </a:r>
            <a:br>
              <a:rPr lang="en-US" sz="2200" b="1" dirty="0">
                <a:solidFill>
                  <a:schemeClr val="accent4">
                    <a:lumMod val="50000"/>
                  </a:schemeClr>
                </a:solidFill>
              </a:rPr>
            </a:br>
            <a:r>
              <a:rPr lang="en-US" sz="2200" b="1" dirty="0">
                <a:solidFill>
                  <a:schemeClr val="accent4">
                    <a:lumMod val="50000"/>
                  </a:schemeClr>
                </a:solidFill>
              </a:rPr>
              <a:t>(b) For the highest salary of 100,000.</a:t>
            </a:r>
          </a:p>
        </p:txBody>
      </p:sp>
      <p:pic>
        <p:nvPicPr>
          <p:cNvPr id="10" name="Picture 9">
            <a:extLst>
              <a:ext uri="{FF2B5EF4-FFF2-40B4-BE49-F238E27FC236}">
                <a16:creationId xmlns:a16="http://schemas.microsoft.com/office/drawing/2014/main" id="{5AB191BB-BC50-6774-6F23-F1FEC4ED4AB8}"/>
              </a:ext>
            </a:extLst>
          </p:cNvPr>
          <p:cNvPicPr>
            <a:picLocks noChangeAspect="1"/>
          </p:cNvPicPr>
          <p:nvPr/>
        </p:nvPicPr>
        <p:blipFill>
          <a:blip r:embed="rId2"/>
          <a:stretch>
            <a:fillRect/>
          </a:stretch>
        </p:blipFill>
        <p:spPr>
          <a:xfrm>
            <a:off x="5600159" y="1375192"/>
            <a:ext cx="406400" cy="444500"/>
          </a:xfrm>
          <a:prstGeom prst="rect">
            <a:avLst/>
          </a:prstGeom>
        </p:spPr>
      </p:pic>
      <p:grpSp>
        <p:nvGrpSpPr>
          <p:cNvPr id="14" name="Group 13">
            <a:extLst>
              <a:ext uri="{FF2B5EF4-FFF2-40B4-BE49-F238E27FC236}">
                <a16:creationId xmlns:a16="http://schemas.microsoft.com/office/drawing/2014/main" id="{6CC5BC4D-73A3-2D59-4D78-15A1B6212982}"/>
              </a:ext>
            </a:extLst>
          </p:cNvPr>
          <p:cNvGrpSpPr/>
          <p:nvPr/>
        </p:nvGrpSpPr>
        <p:grpSpPr>
          <a:xfrm>
            <a:off x="1205961" y="1745075"/>
            <a:ext cx="9780078" cy="4248102"/>
            <a:chOff x="1205961" y="1745074"/>
            <a:chExt cx="9780078" cy="4490473"/>
          </a:xfrm>
        </p:grpSpPr>
        <p:pic>
          <p:nvPicPr>
            <p:cNvPr id="9" name="Picture 8">
              <a:extLst>
                <a:ext uri="{FF2B5EF4-FFF2-40B4-BE49-F238E27FC236}">
                  <a16:creationId xmlns:a16="http://schemas.microsoft.com/office/drawing/2014/main" id="{FD2E82A8-824B-0EF9-850B-39B5D2883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5961" y="1748396"/>
              <a:ext cx="4394198" cy="4343400"/>
            </a:xfrm>
            <a:prstGeom prst="rect">
              <a:avLst/>
            </a:prstGeom>
          </p:spPr>
        </p:pic>
        <p:pic>
          <p:nvPicPr>
            <p:cNvPr id="12" name="Picture 11">
              <a:extLst>
                <a:ext uri="{FF2B5EF4-FFF2-40B4-BE49-F238E27FC236}">
                  <a16:creationId xmlns:a16="http://schemas.microsoft.com/office/drawing/2014/main" id="{2FB771A0-B6F1-B868-6C70-1A0E42A95D79}"/>
                </a:ext>
              </a:extLst>
            </p:cNvPr>
            <p:cNvPicPr>
              <a:picLocks noChangeAspect="1"/>
            </p:cNvPicPr>
            <p:nvPr/>
          </p:nvPicPr>
          <p:blipFill>
            <a:blip r:embed="rId2"/>
            <a:stretch>
              <a:fillRect/>
            </a:stretch>
          </p:blipFill>
          <p:spPr>
            <a:xfrm>
              <a:off x="5603831" y="2131812"/>
              <a:ext cx="406400" cy="444500"/>
            </a:xfrm>
            <a:prstGeom prst="rect">
              <a:avLst/>
            </a:prstGeom>
          </p:spPr>
        </p:pic>
        <p:pic>
          <p:nvPicPr>
            <p:cNvPr id="13" name="Picture 12">
              <a:extLst>
                <a:ext uri="{FF2B5EF4-FFF2-40B4-BE49-F238E27FC236}">
                  <a16:creationId xmlns:a16="http://schemas.microsoft.com/office/drawing/2014/main" id="{B1A09FE3-48CC-21B0-18AD-4CB070376A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6558" y="1745074"/>
              <a:ext cx="4979481" cy="4490473"/>
            </a:xfrm>
            <a:prstGeom prst="rect">
              <a:avLst/>
            </a:prstGeom>
          </p:spPr>
        </p:pic>
      </p:grpSp>
      <p:sp>
        <p:nvSpPr>
          <p:cNvPr id="15" name="TextBox 14">
            <a:extLst>
              <a:ext uri="{FF2B5EF4-FFF2-40B4-BE49-F238E27FC236}">
                <a16:creationId xmlns:a16="http://schemas.microsoft.com/office/drawing/2014/main" id="{C28671EB-61B7-FC00-F990-7AC21B3701EB}"/>
              </a:ext>
            </a:extLst>
          </p:cNvPr>
          <p:cNvSpPr txBox="1"/>
          <p:nvPr/>
        </p:nvSpPr>
        <p:spPr>
          <a:xfrm>
            <a:off x="1073723" y="5814796"/>
            <a:ext cx="439419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3.4a: Performance Correlation With Lowest Salary </a:t>
            </a:r>
          </a:p>
        </p:txBody>
      </p:sp>
      <p:sp>
        <p:nvSpPr>
          <p:cNvPr id="16" name="TextBox 15">
            <a:extLst>
              <a:ext uri="{FF2B5EF4-FFF2-40B4-BE49-F238E27FC236}">
                <a16:creationId xmlns:a16="http://schemas.microsoft.com/office/drawing/2014/main" id="{AC78422A-B446-2553-7BB7-FD5DF208DFD6}"/>
              </a:ext>
            </a:extLst>
          </p:cNvPr>
          <p:cNvSpPr txBox="1"/>
          <p:nvPr/>
        </p:nvSpPr>
        <p:spPr>
          <a:xfrm>
            <a:off x="5946973" y="5953296"/>
            <a:ext cx="4906828" cy="276999"/>
          </a:xfrm>
          <a:prstGeom prst="rect">
            <a:avLst/>
          </a:prstGeom>
          <a:noFill/>
        </p:spPr>
        <p:txBody>
          <a:bodyPr wrap="square" rtlCol="0">
            <a:spAutoFit/>
          </a:bodyPr>
          <a:lstStyle/>
          <a:p>
            <a:r>
              <a:rPr lang="en-US" sz="1200" dirty="0">
                <a:solidFill>
                  <a:schemeClr val="accent5"/>
                </a:solidFill>
                <a:latin typeface="Book Antiqua" panose="02040602050305030304" pitchFamily="18" charset="0"/>
              </a:rPr>
              <a:t>Table 3.4b: Performance Correlation With Highest Salary</a:t>
            </a:r>
          </a:p>
        </p:txBody>
      </p:sp>
      <p:sp>
        <p:nvSpPr>
          <p:cNvPr id="3" name="Slide Number Placeholder 2">
            <a:extLst>
              <a:ext uri="{FF2B5EF4-FFF2-40B4-BE49-F238E27FC236}">
                <a16:creationId xmlns:a16="http://schemas.microsoft.com/office/drawing/2014/main" id="{3DA26159-1A40-AEA1-848A-264172C8E014}"/>
              </a:ext>
            </a:extLst>
          </p:cNvPr>
          <p:cNvSpPr>
            <a:spLocks noGrp="1"/>
          </p:cNvSpPr>
          <p:nvPr>
            <p:ph type="sldNum" sz="quarter" idx="12"/>
          </p:nvPr>
        </p:nvSpPr>
        <p:spPr/>
        <p:txBody>
          <a:bodyPr/>
          <a:lstStyle/>
          <a:p>
            <a:fld id="{E97799C9-84D9-46D2-A11E-BCF8A720529D}" type="slidenum">
              <a:rPr lang="en-US" smtClean="0"/>
              <a:t>12</a:t>
            </a:fld>
            <a:endParaRPr lang="en-US" dirty="0"/>
          </a:p>
        </p:txBody>
      </p:sp>
    </p:spTree>
    <p:extLst>
      <p:ext uri="{BB962C8B-B14F-4D97-AF65-F5344CB8AC3E}">
        <p14:creationId xmlns:p14="http://schemas.microsoft.com/office/powerpoint/2010/main" val="140044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21137-AB3F-8712-4353-55BD89171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9F715-83EB-D08D-B46E-78DAD1B84050}"/>
              </a:ext>
            </a:extLst>
          </p:cNvPr>
          <p:cNvSpPr>
            <a:spLocks noGrp="1"/>
          </p:cNvSpPr>
          <p:nvPr>
            <p:ph type="title"/>
          </p:nvPr>
        </p:nvSpPr>
        <p:spPr>
          <a:xfrm>
            <a:off x="804230" y="683046"/>
            <a:ext cx="10092367" cy="1602953"/>
          </a:xfrm>
        </p:spPr>
        <p:txBody>
          <a:bodyPr>
            <a:normAutofit fontScale="90000"/>
          </a:bodyPr>
          <a:lstStyle/>
          <a:p>
            <a:pPr algn="l"/>
            <a:r>
              <a:rPr lang="en-US" sz="4000" b="1" dirty="0">
                <a:solidFill>
                  <a:schemeClr val="accent4">
                    <a:lumMod val="75000"/>
                  </a:schemeClr>
                </a:solidFill>
              </a:rPr>
              <a:t>Strategic Insights</a:t>
            </a:r>
            <a:br>
              <a:rPr lang="en-US" sz="4000" b="1" dirty="0">
                <a:solidFill>
                  <a:schemeClr val="accent4">
                    <a:lumMod val="75000"/>
                  </a:schemeClr>
                </a:solidFill>
              </a:rPr>
            </a:br>
            <a:r>
              <a:rPr lang="en-US" sz="3300" b="1" dirty="0">
                <a:solidFill>
                  <a:schemeClr val="accent4">
                    <a:lumMod val="75000"/>
                  </a:schemeClr>
                </a:solidFill>
              </a:rPr>
              <a:t>For employee retention, performance tracking, and salary analysis (1/3)</a:t>
            </a:r>
            <a:endParaRPr lang="en-US" sz="3300" dirty="0">
              <a:solidFill>
                <a:schemeClr val="accent4">
                  <a:lumMod val="75000"/>
                </a:schemeClr>
              </a:solidFill>
            </a:endParaRPr>
          </a:p>
        </p:txBody>
      </p:sp>
      <p:sp>
        <p:nvSpPr>
          <p:cNvPr id="3" name="Content Placeholder 2">
            <a:extLst>
              <a:ext uri="{FF2B5EF4-FFF2-40B4-BE49-F238E27FC236}">
                <a16:creationId xmlns:a16="http://schemas.microsoft.com/office/drawing/2014/main" id="{8A6ADB31-3BB0-9C2D-C177-2373E5D2DEF4}"/>
              </a:ext>
            </a:extLst>
          </p:cNvPr>
          <p:cNvSpPr>
            <a:spLocks noGrp="1"/>
          </p:cNvSpPr>
          <p:nvPr>
            <p:ph idx="1"/>
          </p:nvPr>
        </p:nvSpPr>
        <p:spPr>
          <a:xfrm>
            <a:off x="1101686" y="2556931"/>
            <a:ext cx="10339744" cy="3662091"/>
          </a:xfrm>
        </p:spPr>
        <p:txBody>
          <a:bodyPr>
            <a:normAutofit fontScale="77500" lnSpcReduction="20000"/>
          </a:bodyPr>
          <a:lstStyle/>
          <a:p>
            <a:pPr marL="0" indent="0">
              <a:buNone/>
            </a:pPr>
            <a:r>
              <a:rPr lang="en-US" b="1" dirty="0">
                <a:solidFill>
                  <a:schemeClr val="accent4">
                    <a:lumMod val="75000"/>
                  </a:schemeClr>
                </a:solidFill>
              </a:rPr>
              <a:t>Employee Retention </a:t>
            </a:r>
          </a:p>
          <a:p>
            <a:pPr algn="just"/>
            <a:r>
              <a:rPr lang="en-US" dirty="0">
                <a:solidFill>
                  <a:schemeClr val="accent4">
                    <a:lumMod val="50000"/>
                  </a:schemeClr>
                </a:solidFill>
              </a:rPr>
              <a:t>Of the 60 employees at NextGen, only one has served up to 10 years while about a quarter has served for more than 8 years among the long serving employees. On the flip side, 5 of the 60 (about 8%) did not stay up to 1 year, while another 7 of the 60 (about 12%) stayed just 1 year. This means about 20% stayed a year or less! This indicate a huge turnover rate. (Table 1.1)</a:t>
            </a:r>
          </a:p>
          <a:p>
            <a:pPr algn="just"/>
            <a:r>
              <a:rPr lang="en-US" dirty="0">
                <a:solidFill>
                  <a:schemeClr val="accent4">
                    <a:lumMod val="50000"/>
                  </a:schemeClr>
                </a:solidFill>
              </a:rPr>
              <a:t> The departments with the highest turnover rate are Marketing and Engineering with 93% and 67% respectively - (Table 1.2). A cursory look into this trend reveals an unequal correlation between performance and remuneration in these two departments.</a:t>
            </a:r>
          </a:p>
          <a:p>
            <a:pPr algn="just"/>
            <a:r>
              <a:rPr lang="en-US" dirty="0">
                <a:solidFill>
                  <a:schemeClr val="accent4">
                    <a:lumMod val="50000"/>
                  </a:schemeClr>
                </a:solidFill>
              </a:rPr>
              <a:t>If the performance score are anything to go by, more than a few of the employees may be considering leaving the company based on their current average performance score.  (Table 1.3) </a:t>
            </a:r>
          </a:p>
          <a:p>
            <a:pPr algn="just"/>
            <a:r>
              <a:rPr lang="en-US" i="1" dirty="0">
                <a:solidFill>
                  <a:schemeClr val="accent4">
                    <a:lumMod val="50000"/>
                  </a:schemeClr>
                </a:solidFill>
              </a:rPr>
              <a:t>Personal Reasons</a:t>
            </a:r>
            <a:r>
              <a:rPr lang="en-US" dirty="0">
                <a:solidFill>
                  <a:schemeClr val="accent4">
                    <a:lumMod val="50000"/>
                  </a:schemeClr>
                </a:solidFill>
              </a:rPr>
              <a:t> and </a:t>
            </a:r>
            <a:r>
              <a:rPr lang="en-US" i="1" dirty="0">
                <a:solidFill>
                  <a:schemeClr val="accent4">
                    <a:lumMod val="50000"/>
                  </a:schemeClr>
                </a:solidFill>
              </a:rPr>
              <a:t>Found Another Job</a:t>
            </a:r>
            <a:r>
              <a:rPr lang="en-US" dirty="0">
                <a:solidFill>
                  <a:schemeClr val="accent4">
                    <a:lumMod val="50000"/>
                  </a:schemeClr>
                </a:solidFill>
              </a:rPr>
              <a:t> are the top two reasons for leaving the company - (Table 1.4). Since Salary is a foremost motivating factor with employees, a. low salary is definitely the cause behind these two reasons for leaving.</a:t>
            </a:r>
          </a:p>
        </p:txBody>
      </p:sp>
      <p:sp>
        <p:nvSpPr>
          <p:cNvPr id="4" name="Slide Number Placeholder 3">
            <a:extLst>
              <a:ext uri="{FF2B5EF4-FFF2-40B4-BE49-F238E27FC236}">
                <a16:creationId xmlns:a16="http://schemas.microsoft.com/office/drawing/2014/main" id="{9B41738F-C35C-C0BD-2E69-4ADADB90DDF5}"/>
              </a:ext>
            </a:extLst>
          </p:cNvPr>
          <p:cNvSpPr>
            <a:spLocks noGrp="1"/>
          </p:cNvSpPr>
          <p:nvPr>
            <p:ph type="sldNum" sz="quarter" idx="12"/>
          </p:nvPr>
        </p:nvSpPr>
        <p:spPr/>
        <p:txBody>
          <a:bodyPr/>
          <a:lstStyle/>
          <a:p>
            <a:fld id="{E97799C9-84D9-46D2-A11E-BCF8A720529D}" type="slidenum">
              <a:rPr lang="en-US" smtClean="0"/>
              <a:t>13</a:t>
            </a:fld>
            <a:endParaRPr lang="en-US" dirty="0"/>
          </a:p>
        </p:txBody>
      </p:sp>
    </p:spTree>
    <p:extLst>
      <p:ext uri="{BB962C8B-B14F-4D97-AF65-F5344CB8AC3E}">
        <p14:creationId xmlns:p14="http://schemas.microsoft.com/office/powerpoint/2010/main" val="2635762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F8A50-F88C-D679-53F7-8D7BBF94A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C187D-1233-3DDF-7F83-690E719C37DA}"/>
              </a:ext>
            </a:extLst>
          </p:cNvPr>
          <p:cNvSpPr>
            <a:spLocks noGrp="1"/>
          </p:cNvSpPr>
          <p:nvPr>
            <p:ph type="title"/>
          </p:nvPr>
        </p:nvSpPr>
        <p:spPr>
          <a:xfrm>
            <a:off x="804230" y="683046"/>
            <a:ext cx="10092367" cy="1602953"/>
          </a:xfrm>
        </p:spPr>
        <p:txBody>
          <a:bodyPr>
            <a:normAutofit fontScale="90000"/>
          </a:bodyPr>
          <a:lstStyle/>
          <a:p>
            <a:pPr algn="l"/>
            <a:r>
              <a:rPr lang="en-US" sz="4000" b="1" dirty="0">
                <a:solidFill>
                  <a:schemeClr val="accent4">
                    <a:lumMod val="75000"/>
                  </a:schemeClr>
                </a:solidFill>
              </a:rPr>
              <a:t>Strategic Insights</a:t>
            </a:r>
            <a:br>
              <a:rPr lang="en-US" sz="4000" b="1" dirty="0">
                <a:solidFill>
                  <a:schemeClr val="accent4">
                    <a:lumMod val="75000"/>
                  </a:schemeClr>
                </a:solidFill>
              </a:rPr>
            </a:br>
            <a:r>
              <a:rPr lang="en-US" sz="3300" b="1" dirty="0">
                <a:solidFill>
                  <a:schemeClr val="accent4">
                    <a:lumMod val="75000"/>
                  </a:schemeClr>
                </a:solidFill>
              </a:rPr>
              <a:t>For employee retention, performance tracking, and salary analysis (2/3)</a:t>
            </a:r>
            <a:endParaRPr lang="en-US" sz="3300" dirty="0">
              <a:solidFill>
                <a:schemeClr val="accent4">
                  <a:lumMod val="75000"/>
                </a:schemeClr>
              </a:solidFill>
            </a:endParaRPr>
          </a:p>
        </p:txBody>
      </p:sp>
      <p:sp>
        <p:nvSpPr>
          <p:cNvPr id="3" name="Content Placeholder 2">
            <a:extLst>
              <a:ext uri="{FF2B5EF4-FFF2-40B4-BE49-F238E27FC236}">
                <a16:creationId xmlns:a16="http://schemas.microsoft.com/office/drawing/2014/main" id="{10CE0366-6F8D-7FB0-8EC3-4CFE4651ECC6}"/>
              </a:ext>
            </a:extLst>
          </p:cNvPr>
          <p:cNvSpPr>
            <a:spLocks noGrp="1"/>
          </p:cNvSpPr>
          <p:nvPr>
            <p:ph idx="1"/>
          </p:nvPr>
        </p:nvSpPr>
        <p:spPr>
          <a:xfrm>
            <a:off x="1101686" y="2411456"/>
            <a:ext cx="10339744" cy="3989344"/>
          </a:xfrm>
        </p:spPr>
        <p:txBody>
          <a:bodyPr>
            <a:normAutofit fontScale="77500" lnSpcReduction="20000"/>
          </a:bodyPr>
          <a:lstStyle/>
          <a:p>
            <a:pPr marL="0" indent="0">
              <a:buNone/>
            </a:pPr>
            <a:r>
              <a:rPr lang="en-US" b="1" dirty="0">
                <a:solidFill>
                  <a:schemeClr val="accent4">
                    <a:lumMod val="75000"/>
                  </a:schemeClr>
                </a:solidFill>
              </a:rPr>
              <a:t>Performance Tracking</a:t>
            </a:r>
          </a:p>
          <a:p>
            <a:pPr algn="just"/>
            <a:r>
              <a:rPr lang="en-US" dirty="0">
                <a:solidFill>
                  <a:schemeClr val="accent4">
                    <a:lumMod val="50000"/>
                  </a:schemeClr>
                </a:solidFill>
              </a:rPr>
              <a:t>A total of 28 employees has left NextGen. Of this number, Engineering and Marketing departments has the highest of 9 each. While 6 has left HR and 4 left Sales - (Table 2.1). The poor correlation between employee performance and salary is the root cause of the high turnover in Engineering and Marketing as seen in Table 3.4a, where the departments with the lowest salary of 60,000 are predominantly Engineering and Marketing, even though their average Performance score range from 3.5/5.0 – 4.5/5.0.</a:t>
            </a:r>
          </a:p>
          <a:p>
            <a:pPr algn="just"/>
            <a:r>
              <a:rPr lang="en-US" dirty="0">
                <a:solidFill>
                  <a:schemeClr val="accent4">
                    <a:lumMod val="50000"/>
                  </a:schemeClr>
                </a:solidFill>
              </a:rPr>
              <a:t>A total of 9 employees has ever had the highest Performance Score of 5.0. While a total of 45 employee had performance scores below 3.5. Because some had the score multiple times, the cumulative count of scores below 3.5 was 71. (Tables 2.2a and 2.2b). </a:t>
            </a:r>
          </a:p>
          <a:p>
            <a:pPr algn="just"/>
            <a:r>
              <a:rPr lang="en-US" dirty="0">
                <a:solidFill>
                  <a:schemeClr val="accent4">
                    <a:lumMod val="50000"/>
                  </a:schemeClr>
                </a:solidFill>
              </a:rPr>
              <a:t>The Marketing department had the most number of employees with a Performance Score of 5.0. Ironically, Marketing department also had the most number of employees with a Performance Score below 3.5. (Tables 2.3a and 2.3b). </a:t>
            </a:r>
          </a:p>
          <a:p>
            <a:pPr algn="just"/>
            <a:r>
              <a:rPr lang="en-US" dirty="0">
                <a:solidFill>
                  <a:schemeClr val="accent4">
                    <a:lumMod val="50000"/>
                  </a:schemeClr>
                </a:solidFill>
              </a:rPr>
              <a:t>Marketing department had the highest average Performance Score ( of 4.13), while Sale department had the lowest average Performance Score (of 4.0). (Table 2.4).</a:t>
            </a:r>
            <a:endParaRPr lang="en-US" dirty="0"/>
          </a:p>
        </p:txBody>
      </p:sp>
      <p:sp>
        <p:nvSpPr>
          <p:cNvPr id="4" name="Slide Number Placeholder 3">
            <a:extLst>
              <a:ext uri="{FF2B5EF4-FFF2-40B4-BE49-F238E27FC236}">
                <a16:creationId xmlns:a16="http://schemas.microsoft.com/office/drawing/2014/main" id="{237D393D-DD4A-CE5F-B0BD-44AE3AEF498F}"/>
              </a:ext>
            </a:extLst>
          </p:cNvPr>
          <p:cNvSpPr>
            <a:spLocks noGrp="1"/>
          </p:cNvSpPr>
          <p:nvPr>
            <p:ph type="sldNum" sz="quarter" idx="12"/>
          </p:nvPr>
        </p:nvSpPr>
        <p:spPr/>
        <p:txBody>
          <a:bodyPr/>
          <a:lstStyle/>
          <a:p>
            <a:fld id="{E97799C9-84D9-46D2-A11E-BCF8A720529D}" type="slidenum">
              <a:rPr lang="en-US" smtClean="0"/>
              <a:t>14</a:t>
            </a:fld>
            <a:endParaRPr lang="en-US" dirty="0"/>
          </a:p>
        </p:txBody>
      </p:sp>
    </p:spTree>
    <p:extLst>
      <p:ext uri="{BB962C8B-B14F-4D97-AF65-F5344CB8AC3E}">
        <p14:creationId xmlns:p14="http://schemas.microsoft.com/office/powerpoint/2010/main" val="3762141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9BE63-2518-E25E-0175-935B89339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2BAC5-9801-7065-BE4D-619F4FBDAD78}"/>
              </a:ext>
            </a:extLst>
          </p:cNvPr>
          <p:cNvSpPr>
            <a:spLocks noGrp="1"/>
          </p:cNvSpPr>
          <p:nvPr>
            <p:ph type="title"/>
          </p:nvPr>
        </p:nvSpPr>
        <p:spPr>
          <a:xfrm>
            <a:off x="804230" y="683046"/>
            <a:ext cx="10092367" cy="1602953"/>
          </a:xfrm>
        </p:spPr>
        <p:txBody>
          <a:bodyPr>
            <a:normAutofit fontScale="90000"/>
          </a:bodyPr>
          <a:lstStyle/>
          <a:p>
            <a:pPr algn="l"/>
            <a:r>
              <a:rPr lang="en-US" sz="4000" b="1" dirty="0">
                <a:solidFill>
                  <a:schemeClr val="accent4">
                    <a:lumMod val="75000"/>
                  </a:schemeClr>
                </a:solidFill>
              </a:rPr>
              <a:t>Strategic Insights</a:t>
            </a:r>
            <a:br>
              <a:rPr lang="en-US" sz="4000" b="1" dirty="0">
                <a:solidFill>
                  <a:schemeClr val="accent4">
                    <a:lumMod val="75000"/>
                  </a:schemeClr>
                </a:solidFill>
              </a:rPr>
            </a:br>
            <a:r>
              <a:rPr lang="en-US" sz="3300" b="1" dirty="0">
                <a:solidFill>
                  <a:schemeClr val="accent4">
                    <a:lumMod val="75000"/>
                  </a:schemeClr>
                </a:solidFill>
              </a:rPr>
              <a:t>For employee retention, performance tracking, and salary analysis (3/3)</a:t>
            </a:r>
            <a:endParaRPr lang="en-US" sz="3300" dirty="0">
              <a:solidFill>
                <a:schemeClr val="accent4">
                  <a:lumMod val="75000"/>
                </a:schemeClr>
              </a:solidFill>
            </a:endParaRPr>
          </a:p>
        </p:txBody>
      </p:sp>
      <p:sp>
        <p:nvSpPr>
          <p:cNvPr id="3" name="Content Placeholder 2">
            <a:extLst>
              <a:ext uri="{FF2B5EF4-FFF2-40B4-BE49-F238E27FC236}">
                <a16:creationId xmlns:a16="http://schemas.microsoft.com/office/drawing/2014/main" id="{DE38FE83-1ABF-F956-EAFA-C258667C24B7}"/>
              </a:ext>
            </a:extLst>
          </p:cNvPr>
          <p:cNvSpPr>
            <a:spLocks noGrp="1"/>
          </p:cNvSpPr>
          <p:nvPr>
            <p:ph idx="1"/>
          </p:nvPr>
        </p:nvSpPr>
        <p:spPr>
          <a:xfrm>
            <a:off x="1101686" y="2396911"/>
            <a:ext cx="10146535" cy="3969599"/>
          </a:xfrm>
        </p:spPr>
        <p:txBody>
          <a:bodyPr>
            <a:normAutofit fontScale="77500" lnSpcReduction="20000"/>
          </a:bodyPr>
          <a:lstStyle/>
          <a:p>
            <a:pPr marL="0" indent="0">
              <a:buNone/>
            </a:pPr>
            <a:r>
              <a:rPr lang="en-US" b="1" dirty="0">
                <a:solidFill>
                  <a:schemeClr val="accent4">
                    <a:lumMod val="75000"/>
                  </a:schemeClr>
                </a:solidFill>
              </a:rPr>
              <a:t>Salary Analysis</a:t>
            </a:r>
          </a:p>
          <a:p>
            <a:pPr algn="just"/>
            <a:r>
              <a:rPr lang="en-US" dirty="0">
                <a:solidFill>
                  <a:schemeClr val="accent4">
                    <a:lumMod val="50000"/>
                  </a:schemeClr>
                </a:solidFill>
              </a:rPr>
              <a:t>The total Salary Expense of NextGen. is 4,850,000. (Table 3.1).</a:t>
            </a:r>
          </a:p>
          <a:p>
            <a:pPr algn="just"/>
            <a:r>
              <a:rPr lang="en-US" dirty="0">
                <a:solidFill>
                  <a:schemeClr val="accent4">
                    <a:lumMod val="50000"/>
                  </a:schemeClr>
                </a:solidFill>
              </a:rPr>
              <a:t> The Job Title with the highest Average Salary is Sales Representative with 84,285.71, followed by HR Specialist with 81,818.18. While Engineer and Marketing Specialist bring up the rear with 80,000.00 and 77,857.14 respectively. (Table 3.2). This poor relative remuneration of the Marketers and Engineers buttresses the reason for their high turnover.</a:t>
            </a:r>
          </a:p>
          <a:p>
            <a:pPr algn="just"/>
            <a:r>
              <a:rPr lang="en-US" dirty="0">
                <a:solidFill>
                  <a:schemeClr val="accent4">
                    <a:lumMod val="50000"/>
                  </a:schemeClr>
                </a:solidFill>
              </a:rPr>
              <a:t>A total of 26 employees earn a Salary above 80,000. Across Departments, Marketing has 9, Engineering has 8, HR has 5, and Sales has 4 employees. While Across Job Titles, 7 Sales Managers, 7 Sales Representatives, 6 HR Specialists, and 4 Marketing Specialists earn Salary above 80,000. (Tables 3.3a and 3.3b). </a:t>
            </a:r>
          </a:p>
          <a:p>
            <a:pPr algn="just"/>
            <a:r>
              <a:rPr lang="en-US" dirty="0">
                <a:solidFill>
                  <a:schemeClr val="accent4">
                    <a:lumMod val="50000"/>
                  </a:schemeClr>
                </a:solidFill>
              </a:rPr>
              <a:t>The correlation of Performance with Salary are shown for the 12 employees earning the lowest salary of 60,000 - (Table 3.4a), and for the 14 employees earning the highest salary of 100,000 - (Table 3.4b). It is clearly seen here that there is no correlation between the Performance Score and Salary. Employees with higher performance score don’t necessarily get higher salaries.</a:t>
            </a:r>
          </a:p>
          <a:p>
            <a:endParaRPr lang="en-US" dirty="0"/>
          </a:p>
          <a:p>
            <a:endParaRPr lang="en-US" dirty="0"/>
          </a:p>
        </p:txBody>
      </p:sp>
      <p:sp>
        <p:nvSpPr>
          <p:cNvPr id="4" name="Slide Number Placeholder 3">
            <a:extLst>
              <a:ext uri="{FF2B5EF4-FFF2-40B4-BE49-F238E27FC236}">
                <a16:creationId xmlns:a16="http://schemas.microsoft.com/office/drawing/2014/main" id="{AE2E68FC-34E4-9810-B55B-76E2351F3D7E}"/>
              </a:ext>
            </a:extLst>
          </p:cNvPr>
          <p:cNvSpPr>
            <a:spLocks noGrp="1"/>
          </p:cNvSpPr>
          <p:nvPr>
            <p:ph type="sldNum" sz="quarter" idx="12"/>
          </p:nvPr>
        </p:nvSpPr>
        <p:spPr/>
        <p:txBody>
          <a:bodyPr/>
          <a:lstStyle/>
          <a:p>
            <a:fld id="{E97799C9-84D9-46D2-A11E-BCF8A720529D}" type="slidenum">
              <a:rPr lang="en-US" smtClean="0"/>
              <a:t>15</a:t>
            </a:fld>
            <a:endParaRPr lang="en-US" dirty="0"/>
          </a:p>
        </p:txBody>
      </p:sp>
    </p:spTree>
    <p:extLst>
      <p:ext uri="{BB962C8B-B14F-4D97-AF65-F5344CB8AC3E}">
        <p14:creationId xmlns:p14="http://schemas.microsoft.com/office/powerpoint/2010/main" val="395631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5D68A-811B-BB60-B590-6B1B3C9BF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FFA196-7C70-21B9-938D-F22FBEF20AE7}"/>
              </a:ext>
            </a:extLst>
          </p:cNvPr>
          <p:cNvSpPr>
            <a:spLocks noGrp="1"/>
          </p:cNvSpPr>
          <p:nvPr>
            <p:ph type="title"/>
          </p:nvPr>
        </p:nvSpPr>
        <p:spPr>
          <a:xfrm>
            <a:off x="804231" y="683046"/>
            <a:ext cx="7711119" cy="1602953"/>
          </a:xfrm>
        </p:spPr>
        <p:txBody>
          <a:bodyPr>
            <a:normAutofit/>
          </a:bodyPr>
          <a:lstStyle/>
          <a:p>
            <a:pPr algn="l"/>
            <a:r>
              <a:rPr lang="en-US" sz="4000" b="1" dirty="0">
                <a:solidFill>
                  <a:schemeClr val="accent4">
                    <a:lumMod val="75000"/>
                  </a:schemeClr>
                </a:solidFill>
              </a:rPr>
              <a:t>Conclusion &amp; Recommendations</a:t>
            </a:r>
            <a:endParaRPr lang="en-US" sz="3300" dirty="0">
              <a:solidFill>
                <a:schemeClr val="accent4">
                  <a:lumMod val="75000"/>
                </a:schemeClr>
              </a:solidFill>
            </a:endParaRPr>
          </a:p>
        </p:txBody>
      </p:sp>
      <p:sp>
        <p:nvSpPr>
          <p:cNvPr id="3" name="Content Placeholder 2">
            <a:extLst>
              <a:ext uri="{FF2B5EF4-FFF2-40B4-BE49-F238E27FC236}">
                <a16:creationId xmlns:a16="http://schemas.microsoft.com/office/drawing/2014/main" id="{C6ABF4AD-6F8C-DEBD-50FA-9CF3250BE8DD}"/>
              </a:ext>
            </a:extLst>
          </p:cNvPr>
          <p:cNvSpPr>
            <a:spLocks noGrp="1"/>
          </p:cNvSpPr>
          <p:nvPr>
            <p:ph idx="1"/>
          </p:nvPr>
        </p:nvSpPr>
        <p:spPr>
          <a:xfrm>
            <a:off x="982980" y="2396911"/>
            <a:ext cx="10447020" cy="3969599"/>
          </a:xfrm>
        </p:spPr>
        <p:txBody>
          <a:bodyPr>
            <a:normAutofit fontScale="62500" lnSpcReduction="20000"/>
          </a:bodyPr>
          <a:lstStyle/>
          <a:p>
            <a:pPr marL="0" indent="0">
              <a:buNone/>
            </a:pPr>
            <a:r>
              <a:rPr lang="en-US" b="1" dirty="0">
                <a:solidFill>
                  <a:schemeClr val="accent4">
                    <a:lumMod val="75000"/>
                  </a:schemeClr>
                </a:solidFill>
              </a:rPr>
              <a:t>The root causes of high turnover rates – Actionable recommendation to mitigate it.</a:t>
            </a:r>
          </a:p>
          <a:p>
            <a:pPr algn="just"/>
            <a:r>
              <a:rPr lang="en-US" dirty="0">
                <a:solidFill>
                  <a:schemeClr val="accent4">
                    <a:lumMod val="75000"/>
                  </a:schemeClr>
                </a:solidFill>
              </a:rPr>
              <a:t>An unequal correlation between performance and remuneration in the Marketing and.  Engineering departments is the major cause for the high turnover rates in these departments – 93% and 67% respectively. </a:t>
            </a:r>
          </a:p>
          <a:p>
            <a:pPr algn="just"/>
            <a:r>
              <a:rPr lang="en-US" dirty="0">
                <a:solidFill>
                  <a:schemeClr val="accent4">
                    <a:lumMod val="60000"/>
                    <a:lumOff val="40000"/>
                  </a:schemeClr>
                </a:solidFill>
              </a:rPr>
              <a:t>There should be fair Performance-Wage scale. A software can be deployed to track employee performance and trigger an appropriate salary increment. The use of an automated software will prevent human interference.</a:t>
            </a:r>
          </a:p>
          <a:p>
            <a:pPr marL="0" indent="0" algn="just">
              <a:buNone/>
            </a:pPr>
            <a:r>
              <a:rPr lang="en-US" b="1" dirty="0">
                <a:solidFill>
                  <a:schemeClr val="accent4">
                    <a:lumMod val="75000"/>
                  </a:schemeClr>
                </a:solidFill>
              </a:rPr>
              <a:t>Areas where performance can be improved – Actionable recommendation to mitigate it.</a:t>
            </a:r>
            <a:endParaRPr lang="en-US" dirty="0">
              <a:solidFill>
                <a:schemeClr val="accent4">
                  <a:lumMod val="50000"/>
                </a:schemeClr>
              </a:solidFill>
            </a:endParaRPr>
          </a:p>
          <a:p>
            <a:pPr algn="just"/>
            <a:r>
              <a:rPr lang="en-US" dirty="0">
                <a:solidFill>
                  <a:schemeClr val="accent4">
                    <a:lumMod val="75000"/>
                  </a:schemeClr>
                </a:solidFill>
              </a:rPr>
              <a:t>From Table 2.3a, Marketing and Engineering has the highest employees with a performance score below 3.5 of 28 and 22 respectively. This is expected because of the unfair performance-wage scale.</a:t>
            </a:r>
          </a:p>
          <a:p>
            <a:pPr algn="just"/>
            <a:r>
              <a:rPr lang="en-US" dirty="0">
                <a:solidFill>
                  <a:schemeClr val="accent4">
                    <a:lumMod val="60000"/>
                    <a:lumOff val="40000"/>
                  </a:schemeClr>
                </a:solidFill>
              </a:rPr>
              <a:t>The areas(department) where performance can be improved are Engineering and Marketing. And a fair and incentivized performance-wage scale will bring about the much-needed improvements.</a:t>
            </a:r>
          </a:p>
          <a:p>
            <a:pPr marL="0" indent="0" algn="just">
              <a:buNone/>
            </a:pPr>
            <a:r>
              <a:rPr lang="en-US" b="1" dirty="0">
                <a:solidFill>
                  <a:schemeClr val="accent4">
                    <a:lumMod val="75000"/>
                  </a:schemeClr>
                </a:solidFill>
              </a:rPr>
              <a:t>Ensure fair compensation based on performance and departmental benchmarks – Actionable recommendation to mitigate it.</a:t>
            </a:r>
            <a:endParaRPr lang="en-US" dirty="0">
              <a:solidFill>
                <a:schemeClr val="accent4">
                  <a:lumMod val="50000"/>
                </a:schemeClr>
              </a:solidFill>
            </a:endParaRPr>
          </a:p>
          <a:p>
            <a:pPr algn="just"/>
            <a:r>
              <a:rPr lang="en-US" dirty="0">
                <a:solidFill>
                  <a:schemeClr val="accent4">
                    <a:lumMod val="75000"/>
                  </a:schemeClr>
                </a:solidFill>
              </a:rPr>
              <a:t>From Table 3.3b, of the employees earning above 80,000, 7 each are Sales Managers and Sales Representatives; while only 2 and 4 are Engineers and Marketing Specialists</a:t>
            </a:r>
            <a:r>
              <a:rPr lang="en-US" dirty="0">
                <a:solidFill>
                  <a:schemeClr val="accent4">
                    <a:lumMod val="50000"/>
                  </a:schemeClr>
                </a:solidFill>
              </a:rPr>
              <a:t> respectively. This existing mode of compensation is not fair.</a:t>
            </a:r>
          </a:p>
          <a:p>
            <a:pPr algn="just"/>
            <a:r>
              <a:rPr lang="en-US" dirty="0">
                <a:solidFill>
                  <a:schemeClr val="accent4">
                    <a:lumMod val="60000"/>
                    <a:lumOff val="40000"/>
                  </a:schemeClr>
                </a:solidFill>
              </a:rPr>
              <a:t>To ensure fairness a policy should be instituted to make sure that the hierarchies in the departments are at par in terms of salaries and compensations. Foe instance a Manager in Engineering should earn the same as a Manager in Sales, HR, and Marketing. </a:t>
            </a:r>
            <a:endParaRPr lang="en-US" dirty="0">
              <a:solidFill>
                <a:schemeClr val="accent4">
                  <a:lumMod val="50000"/>
                </a:schemeClr>
              </a:solidFill>
            </a:endParaRPr>
          </a:p>
        </p:txBody>
      </p:sp>
      <p:sp>
        <p:nvSpPr>
          <p:cNvPr id="7" name="Slide Number Placeholder 6">
            <a:extLst>
              <a:ext uri="{FF2B5EF4-FFF2-40B4-BE49-F238E27FC236}">
                <a16:creationId xmlns:a16="http://schemas.microsoft.com/office/drawing/2014/main" id="{73206DFE-191D-7E45-7D66-292B61DDF749}"/>
              </a:ext>
            </a:extLst>
          </p:cNvPr>
          <p:cNvSpPr>
            <a:spLocks noGrp="1"/>
          </p:cNvSpPr>
          <p:nvPr>
            <p:ph type="sldNum" sz="quarter" idx="12"/>
          </p:nvPr>
        </p:nvSpPr>
        <p:spPr/>
        <p:txBody>
          <a:bodyPr/>
          <a:lstStyle/>
          <a:p>
            <a:fld id="{E97799C9-84D9-46D2-A11E-BCF8A720529D}" type="slidenum">
              <a:rPr lang="en-US" smtClean="0"/>
              <a:t>16</a:t>
            </a:fld>
            <a:endParaRPr lang="en-US" dirty="0"/>
          </a:p>
        </p:txBody>
      </p:sp>
    </p:spTree>
    <p:extLst>
      <p:ext uri="{BB962C8B-B14F-4D97-AF65-F5344CB8AC3E}">
        <p14:creationId xmlns:p14="http://schemas.microsoft.com/office/powerpoint/2010/main" val="374769440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788</TotalTime>
  <Words>1714</Words>
  <Application>Microsoft Macintosh PowerPoint</Application>
  <PresentationFormat>Widescreen</PresentationFormat>
  <Paragraphs>94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Book Antiqua</vt:lpstr>
      <vt:lpstr>Calibri</vt:lpstr>
      <vt:lpstr>Garamond</vt:lpstr>
      <vt:lpstr>Organic</vt:lpstr>
      <vt:lpstr>NextGen Corp.</vt:lpstr>
      <vt:lpstr>PowerPoint Presentation</vt:lpstr>
      <vt:lpstr>Understanding the employee turnover trends and identifying the root causes of high turnover rates.</vt:lpstr>
      <vt:lpstr>1. Who are the top 5 highest serving employees?  2. What is the turnover rate for each department? </vt:lpstr>
      <vt:lpstr>3. Which employees are at risk of leaving based on their performance?  4. What are the main reasons why employees are leaving the company? </vt:lpstr>
      <vt:lpstr>Evaluating employee performance across different departments and identifying areas where performance can be improved. </vt:lpstr>
      <vt:lpstr>5. How many employees has left the company?   6. How many employees have a performance score of 5.0? And below 3.5?  </vt:lpstr>
      <vt:lpstr>7. Which department has the most employees with a performance score  of 5.0 ? And below 3.5?   8. What is the average performance score by department ?  </vt:lpstr>
      <vt:lpstr>Analyze salary distribution and ensure fair compensation based on performance and departmental benchmarks.</vt:lpstr>
      <vt:lpstr>9. What is the total salary expense for the company?  10. What is the average salary by job title? </vt:lpstr>
      <vt:lpstr>11. How many employees earn  above 80,000? (a) Across Departments  11. How many employees earn  above 80,000? (b) Across Job Titles </vt:lpstr>
      <vt:lpstr>12. How does performance correlate with salary across departments? (a) For the lowest salary of 60,000. 12. How does performance correlate with salary across departments? (b) For the highest salary of 100,000.</vt:lpstr>
      <vt:lpstr>Strategic Insights For employee retention, performance tracking, and salary analysis (1/3)</vt:lpstr>
      <vt:lpstr>Strategic Insights For employee retention, performance tracking, and salary analysis (2/3)</vt:lpstr>
      <vt:lpstr>Strategic Insights For employee retention, performance tracking, and salary analysis (3/3)</vt:lpstr>
      <vt:lpstr>Conclusion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Lighthouse Accounts</dc:creator>
  <cp:lastModifiedBy>Roy A</cp:lastModifiedBy>
  <cp:revision>83</cp:revision>
  <dcterms:created xsi:type="dcterms:W3CDTF">2025-07-04T14:11:15Z</dcterms:created>
  <dcterms:modified xsi:type="dcterms:W3CDTF">2026-04-06T05:46:46Z</dcterms:modified>
</cp:coreProperties>
</file>